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customXml" Target="../customXml/item1.xml"/><Relationship Id="rId12" Type="http://schemas.openxmlformats.org/officeDocument/2006/relationships/customXml" Target="../customXml/item2.xml"/><Relationship Id="rId13" Type="http://schemas.openxmlformats.org/officeDocument/2006/relationships/customXml" Target="../customXml/item3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7DED-0943-2F4E-2671-2DB13036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16A2D-1B0A-CE37-3608-35CF9ED3D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A168-A285-F311-DBD4-D212B001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A97E-4798-305A-067E-9F6E54DD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88654-852F-6A51-FBFE-5531B106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5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02D7-1ABB-43F4-7E9B-153A7548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4040-B668-7366-8C3D-3007DC2A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5977E-F0F4-86F8-0B7F-C30A1A8F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1EE6-9841-9DC7-039C-5B84BBC2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3540C-BB99-1C27-4443-5F36BDE0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7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D60E-8FD2-E923-9695-61D67E76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F5F6D-350B-8206-B6C4-1B488FD6C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1DA4-ECD9-1E67-4591-6E183472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F473-228C-2DD1-1C69-092F21AC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CE7C-3F6A-2F9C-885B-E6B96495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1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B619-62D8-602E-A370-E4F43394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FD9A-8612-1037-ABE3-1FD22674E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0D6EA-B271-B3B4-EC8C-188D2896A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33EB-DA20-2D30-5F89-621889DE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D028-07B1-DF58-22FA-224C3C18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1817D-3F84-BB14-8316-9AC7F720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7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B631-572B-CCCE-016F-167F0F23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AE52-D13D-5BF7-97B4-5F8AFFDE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FD8E6-9165-16E3-BDFC-4134D97C0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D8AFD-B401-9365-F94F-E63963D1A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E8418-F2EC-3EFC-68AD-9496BB132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39ED8-DCA9-4019-C3FA-9CD415CA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D58CA-9565-5936-8752-57658AAC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4A19-E41C-7596-22B7-6FB55D27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D7A-784F-60A1-4509-F6BACE8B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A1ED5-8D43-E627-EC34-094ECA10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F0ECB-BEF1-66AD-D346-EEA53DFD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8420F-226D-F5A9-9BE3-87FDDBEE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6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031C0-5349-5F05-638E-28ED50B8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0BC3E-8E1E-7DDD-85D6-3A047956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43A2-2E5A-5DBF-A74D-EECBBE52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C975-06AA-A29E-2654-EFBF9E0B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CC749-0F0C-CBB8-94FA-400E5BF4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E208B-84E1-0BBE-991B-37E3CB34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5DA9-DD61-F5AB-FB9D-E2AD708A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9E9A9-2C4A-7084-FFCC-BC4E6FD1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351B1-C645-BC7E-BE66-8AA08401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9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1AE7-6C0C-B427-3400-033C3DAB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E86E8-A1F1-33C3-CA13-CAAD0AAFE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642E1-3BD1-A67B-422B-063C1E1D4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52560-3193-6F5E-465D-CDA69316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1C943-7483-8BD7-A157-48273A4E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6A95E-A947-F33F-3263-38D1C43D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8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FCEF-7184-0ECD-1682-3086DFD5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FB38B-2414-5494-747A-AF056FA10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58218-E951-50EC-94FB-CFA12310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C85CF-74ED-81A1-8CF1-001D773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F248-CFDF-2FA7-B618-3FE2C9EC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AD946-F509-E4F1-9F4D-DCEEC9CA7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7480E-5E55-E4C0-D3D7-DAFDBF41D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4C7D-8058-7795-C6EF-046F187A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9146-34B4-AB84-A61A-88864E7C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D08B-9865-A8F8-9CF5-F230CCBA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383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3D113-D187-B07B-4C30-EE7AD219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3100F-CF65-F5AB-73D3-016D0239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DA1F-2F54-66D8-6F34-C3A346CE3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5630D-0539-7CF9-1EBB-6DDA666F5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3A8AA-1B9C-6811-09C1-7DA01E724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4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9112-BE2C-E557-2EAD-5DFB8E4B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703" y="2463282"/>
            <a:ext cx="9144000" cy="1082352"/>
          </a:xfrm>
        </p:spPr>
        <p:txBody>
          <a:bodyPr/>
          <a:lstStyle/>
          <a:p>
            <a:pPr>
              <a:defRPr sz="2600" b="1">
                <a:solidFill>
                  <a:srgbClr val="BE0F14"/>
                </a:solidFill>
              </a:defRPr>
            </a:pPr>
            <a:r>
              <a:t>KIẾN TRÚC FLUTTER — CLEAN ARCHITECTURE</a:t>
            </a:r>
          </a:p>
          <a:p>
            <a:pPr>
              <a:defRPr sz="2600" b="1">
                <a:solidFill>
                  <a:srgbClr val="BE0F14"/>
                </a:solidFill>
              </a:defRPr>
            </a:pPr>
            <a:r>
              <a:t>VÀ DEPENDENCY INJECTION (DI)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6323E-9F1D-1C09-1C62-4C0F2F32C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4" y="4142790"/>
            <a:ext cx="5116286" cy="1338943"/>
          </a:xfrm>
        </p:spPr>
        <p:txBody>
          <a:bodyPr/>
          <a:lstStyle/>
          <a:p>
            <a:pPr>
              <a:defRPr sz="1600"/>
            </a:pPr>
            <a:r>
              <a:t>SVTH:</a:t>
            </a:r>
          </a:p>
          <a:p>
            <a:pPr>
              <a:defRPr sz="1600"/>
            </a:pPr>
            <a:r>
              <a:t>1. Thành viên 1 (Trưởng nhóm)</a:t>
            </a:r>
          </a:p>
          <a:p>
            <a:pPr>
              <a:defRPr sz="1600"/>
            </a:pPr>
            <a:r>
              <a:t>2. Thành viên 2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BC51A4-5B59-8A33-71E9-028C13C8ACA9}"/>
              </a:ext>
            </a:extLst>
          </p:cNvPr>
          <p:cNvSpPr txBox="1">
            <a:spLocks/>
          </p:cNvSpPr>
          <p:nvPr/>
        </p:nvSpPr>
        <p:spPr>
          <a:xfrm>
            <a:off x="1524000" y="1376267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Tuần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DE3DDE-A8CA-A162-D7B9-7CF8B2DD13B5}"/>
              </a:ext>
            </a:extLst>
          </p:cNvPr>
          <p:cNvSpPr txBox="1">
            <a:spLocks/>
          </p:cNvSpPr>
          <p:nvPr/>
        </p:nvSpPr>
        <p:spPr>
          <a:xfrm>
            <a:off x="2111828" y="1959427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Môn</a:t>
            </a:r>
            <a:r>
              <a:rPr lang="en-US" dirty="0"/>
              <a:t>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66A4CF-53EE-DE34-3FAB-9024EB0BF4C4}"/>
              </a:ext>
            </a:extLst>
          </p:cNvPr>
          <p:cNvSpPr txBox="1">
            <a:spLocks/>
          </p:cNvSpPr>
          <p:nvPr/>
        </p:nvSpPr>
        <p:spPr>
          <a:xfrm>
            <a:off x="3825550" y="419880"/>
            <a:ext cx="5116286" cy="718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TRƯỜNG ĐẠI HỌC BÁCH KHOA</a:t>
            </a:r>
          </a:p>
          <a:p>
            <a:r>
              <a:rPr lang="en-US" sz="2000" b="1" dirty="0"/>
              <a:t>KHOA ĐIỆN TỬ VÀ TRÍ TUỆ NHÂN TẠO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936180-4B93-7126-3B30-A55A320EE230}"/>
              </a:ext>
            </a:extLst>
          </p:cNvPr>
          <p:cNvSpPr txBox="1">
            <a:spLocks/>
          </p:cNvSpPr>
          <p:nvPr/>
        </p:nvSpPr>
        <p:spPr>
          <a:xfrm>
            <a:off x="3862871" y="6078889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Đà</a:t>
            </a:r>
            <a:r>
              <a:rPr lang="en-US" dirty="0"/>
              <a:t> </a:t>
            </a:r>
            <a:r>
              <a:rPr lang="en-US" dirty="0" err="1"/>
              <a:t>Nẵng</a:t>
            </a:r>
            <a:r>
              <a:rPr lang="en-US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8082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CE17-3B25-2D54-F590-E273BDAB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D456-8E08-CBE9-82AD-26602FC13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1000"/>
              </a:spcAft>
              <a:defRPr sz="1800"/>
            </a:pPr>
            <a:r>
              <a:t>1. Đặt vấn đề &amp; Mục tiêu đề tài</a:t>
            </a:r>
          </a:p>
          <a:p>
            <a:pPr>
              <a:spcAft>
                <a:spcPts val="1000"/>
              </a:spcAft>
              <a:defRPr sz="1800"/>
            </a:pPr>
            <a:r>
              <a:t>2. Kiến trúc Clean Architecture 3 lớp (Presentation / Domain / Data)</a:t>
            </a:r>
          </a:p>
          <a:p>
            <a:pPr>
              <a:spcAft>
                <a:spcPts val="1000"/>
              </a:spcAft>
              <a:defRPr sz="1800"/>
            </a:pPr>
            <a:r>
              <a:t>3. Nguyên lý đảo ngược phụ thuộc (DIP) &amp; Repository Pattern</a:t>
            </a:r>
          </a:p>
          <a:p>
            <a:pPr>
              <a:spcAft>
                <a:spcPts val="1000"/>
              </a:spcAft>
              <a:defRPr sz="1800"/>
            </a:pPr>
            <a:r>
              <a:t>4. Dependency Injection với get_it &amp; injectable</a:t>
            </a:r>
          </a:p>
          <a:p>
            <a:pPr>
              <a:spcAft>
                <a:spcPts val="1000"/>
              </a:spcAft>
              <a:defRPr sz="1800"/>
            </a:pPr>
            <a:r>
              <a:t>5. Cơ chế khởi tạo: WidgetsBinding &amp; MultiBlocProvider</a:t>
            </a:r>
          </a:p>
          <a:p>
            <a:pPr>
              <a:spcAft>
                <a:spcPts val="1000"/>
              </a:spcAft>
              <a:defRPr sz="1800"/>
            </a:pPr>
            <a:r>
              <a:t>6. Ứng dụng Demo thực tế: CineStream Movie Explorer</a:t>
            </a:r>
          </a:p>
          <a:p>
            <a:pPr>
              <a:spcAft>
                <a:spcPts val="1000"/>
              </a:spcAft>
              <a:defRPr sz="1800"/>
            </a:pPr>
            <a:r>
              <a:t>7. Kiểm thử tự động (Unit Test) tầng Domain &amp; Decoupling Proof</a:t>
            </a:r>
          </a:p>
          <a:p>
            <a:pPr>
              <a:spcAft>
                <a:spcPts val="1000"/>
              </a:spcAft>
              <a:defRPr sz="1800"/>
            </a:pPr>
            <a:r>
              <a:t>8. Bảng phân công công việc (WBS) &amp; Kết luận</a:t>
            </a:r>
          </a:p>
        </p:txBody>
      </p:sp>
    </p:spTree>
    <p:extLst>
      <p:ext uri="{BB962C8B-B14F-4D97-AF65-F5344CB8AC3E}">
        <p14:creationId xmlns:p14="http://schemas.microsoft.com/office/powerpoint/2010/main" val="373476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935-A182-3238-61CF-7B34B597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CB72E-0085-C31A-2D8A-D4096AF71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60611"/>
              </p:ext>
            </p:extLst>
          </p:nvPr>
        </p:nvGraphicFramePr>
        <p:xfrm>
          <a:off x="838200" y="3253208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004">
                  <a:extLst>
                    <a:ext uri="{9D8B030D-6E8A-4147-A177-3AD203B41FA5}">
                      <a16:colId xmlns:a16="http://schemas.microsoft.com/office/drawing/2014/main" val="2572418428"/>
                    </a:ext>
                  </a:extLst>
                </a:gridCol>
                <a:gridCol w="2239347">
                  <a:extLst>
                    <a:ext uri="{9D8B030D-6E8A-4147-A177-3AD203B41FA5}">
                      <a16:colId xmlns:a16="http://schemas.microsoft.com/office/drawing/2014/main" val="3198274142"/>
                    </a:ext>
                  </a:extLst>
                </a:gridCol>
                <a:gridCol w="4899349">
                  <a:extLst>
                    <a:ext uri="{9D8B030D-6E8A-4147-A177-3AD203B41FA5}">
                      <a16:colId xmlns:a16="http://schemas.microsoft.com/office/drawing/2014/main" val="8548336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1988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dirty="0"/>
                        <a:t>HỌ VÀ TÊN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dirty="0"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dirty="0"/>
                        <a:t>TỶ LỆ ĐÓNG GÓP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6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Thành viên 1 (Trưởng nhóm)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Business Logic, State Management (BLoC), Dependency Injection, Domain 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Thành viên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UI Design, Data Layer (REST API &amp; DTOs), Báo cáo &amp; Slide thuyết trình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25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817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1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9BBC-3E10-D0D5-139D-7420ACE0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Kiến trúc Clean Architecture 3 Lớp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7791-8943-D3F4-B75F-D1180A76B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1200"/>
              </a:spcAft>
              <a:defRPr sz="1700"/>
            </a:pPr>
            <a:r>
              <a:t>• Presentation Layer: Chứa UI (Widgets, Pages) và State Management (BLoC/Cubit). Chỉ phụ thuộc vào Domain UseCase.</a:t>
            </a:r>
          </a:p>
          <a:p>
            <a:pPr>
              <a:spcAft>
                <a:spcPts val="1200"/>
              </a:spcAft>
              <a:defRPr sz="1700"/>
            </a:pPr>
            <a:r>
              <a:t>• Domain Layer (Core Business): Độc lập hoàn toàn (Pure Dart), chứa Entities, UseCases và Repository Interface.</a:t>
            </a:r>
          </a:p>
          <a:p>
            <a:pPr>
              <a:spcAft>
                <a:spcPts val="1200"/>
              </a:spcAft>
              <a:defRPr sz="1700"/>
            </a:pPr>
            <a:r>
              <a:t>• Data Layer: Phụ trách lấy dữ liệu từ REST API (Dio) hoặc Local Database. Triển khai (implement) Repository Interface của Domain.</a:t>
            </a:r>
          </a:p>
          <a:p>
            <a:pPr>
              <a:spcAft>
                <a:spcPts val="1200"/>
              </a:spcAft>
              <a:defRPr sz="1700"/>
            </a:pPr>
            <a:r>
              <a:t>• Quy tắc phụ thuộc (The Dependency Rule): Mọi phụ thuộc chỉ được phép chỉ vào trong (hướng về Domain).</a:t>
            </a:r>
          </a:p>
        </p:txBody>
      </p:sp>
    </p:spTree>
    <p:extLst>
      <p:ext uri="{BB962C8B-B14F-4D97-AF65-F5344CB8AC3E}">
        <p14:creationId xmlns:p14="http://schemas.microsoft.com/office/powerpoint/2010/main" val="104092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ACE4-D3BC-D14F-6F10-4B5559D0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Tài liệu tham khảo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EC67-D094-49BF-AA1D-C1437B7DA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1200"/>
              </a:spcAft>
              <a:defRPr sz="1700"/>
            </a:pPr>
            <a:r>
              <a:t>1. Robert C. Martin (2017) - Clean Architecture: A Craftsman Guide to Software Structure and Design.</a:t>
            </a:r>
          </a:p>
          <a:p>
            <a:pPr>
              <a:spcAft>
                <a:spcPts val="1200"/>
              </a:spcAft>
              <a:defRPr sz="1700"/>
            </a:pPr>
            <a:r>
              <a:t>2. Flutter Official Documentation: Architectural Overview &amp; State Management with BLoC.</a:t>
            </a:r>
          </a:p>
          <a:p>
            <a:pPr>
              <a:spcAft>
                <a:spcPts val="1200"/>
              </a:spcAft>
              <a:defRPr sz="1700"/>
            </a:pPr>
            <a:r>
              <a:t>3. Reso Coder: Flutter Clean Architecture &amp; TDD Course.</a:t>
            </a:r>
          </a:p>
          <a:p>
            <a:pPr>
              <a:spcAft>
                <a:spcPts val="1200"/>
              </a:spcAft>
              <a:defRPr sz="1700"/>
            </a:pPr>
            <a:r>
              <a:t>4. The Movie Database (TMDB) API v3 Developer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56571270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Nguyên lý Đảo ngược Phụ thuộc (DIP)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700"/>
            </a:pPr>
            <a:r>
              <a:t>• Định nghĩa DIP: Module cấp cao (Domain) không phụ thuộc trực tiếp vào module cấp thấp (Data). Cả hai đều phụ thuộc vào Abstraction.</a:t>
            </a:r>
          </a:p>
          <a:p>
            <a:pPr>
              <a:spcAft>
                <a:spcPts val="1200"/>
              </a:spcAft>
              <a:defRPr sz="1700"/>
            </a:pPr>
            <a:r>
              <a:t>• Repository Pattern: Domain định nghĩa interface MovieRepository. Data layer thực thi MovieRepositoryImpl.</a:t>
            </a:r>
          </a:p>
          <a:p>
            <a:pPr>
              <a:spcAft>
                <a:spcPts val="1200"/>
              </a:spcAft>
              <a:defRPr sz="1700"/>
            </a:pPr>
            <a:r>
              <a:t>• Lợi ích then chốt: Presentation &amp; Domain có thể kiểm thử hoàn toàn độc lập với API thật bằng cách Mock repository.</a:t>
            </a:r>
          </a:p>
          <a:p>
            <a:pPr>
              <a:spcAft>
                <a:spcPts val="1200"/>
              </a:spcAft>
              <a:defRPr sz="1700"/>
            </a:pPr>
            <a:r>
              <a:t>• Dễ dàng hoán đổi Data Source (REST API, GraphQL, SQLite, Firebase) mà không cần sửa bất kỳ dòng mã nào ở Domain/Presentation.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Dependency Injection (get_it + injectable)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700"/>
            </a:pPr>
            <a:r>
              <a:t>• get_it (Service Locator): Quản lý vòng đời và cung cấp instance của UseCase, Repository, BLoC ở mọi nơi trong ứng dụng.</a:t>
            </a:r>
          </a:p>
          <a:p>
            <a:pPr>
              <a:spcAft>
                <a:spcPts val="1200"/>
              </a:spcAft>
              <a:defRPr sz="1700"/>
            </a:pPr>
            <a:r>
              <a:t>• injectable + build_runner: Tự động quét các annotation (@lazySingleton, @injectable) và sinh mã khởi tạo compile-time.</a:t>
            </a:r>
          </a:p>
          <a:p>
            <a:pPr>
              <a:spcAft>
                <a:spcPts val="1200"/>
              </a:spcAft>
              <a:defRPr sz="1700"/>
            </a:pPr>
            <a:r>
              <a:t>• WidgetsFlutterBinding.ensureInitialized(): Đảm bảo kết nối giữa Flutter Engine và Dart Framework trước khi nạp .env và DI.</a:t>
            </a:r>
          </a:p>
          <a:p>
            <a:pPr>
              <a:spcAft>
                <a:spcPts val="1200"/>
              </a:spcAft>
              <a:defRPr sz="1700"/>
            </a:pPr>
            <a:r>
              <a:t>• MultiBlocProvider: Tích hợp BLoC vào Widget Tree theo vòng đời widget, tự động quản lý dispose() giải phóng bộ nhớ.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Demo Ứng Dụng CineStream &amp; Unit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700"/>
            </a:pPr>
            <a:r>
              <a:t>• Ứng dụng CineStream Movie Explorer: Kết nối TMDB REST API, hiển thị phim thịnh hành, đang chiếu, chi tiết và tìm kiếm.</a:t>
            </a:r>
          </a:p>
          <a:p>
            <a:pPr>
              <a:spcAft>
                <a:spcPts val="1200"/>
              </a:spcAft>
              <a:defRPr sz="1700"/>
            </a:pPr>
            <a:r>
              <a:t>• Màn hình trực quan hóa kiến trúc Clean Architecture tích hợp ngay bên trong ứng dụng.</a:t>
            </a:r>
          </a:p>
          <a:p>
            <a:pPr>
              <a:spcAft>
                <a:spcPts val="1200"/>
              </a:spcAft>
              <a:defRPr sz="1700"/>
            </a:pPr>
            <a:r>
              <a:t>• Cơ chế Smart Fallback: Đảm bảo ứng dụng chạy mượt mà ngay cả khi chưa có API Key hoặc mất kết nối mạng trong lúc thuyết trình.</a:t>
            </a:r>
          </a:p>
          <a:p>
            <a:pPr>
              <a:spcAft>
                <a:spcPts val="1200"/>
              </a:spcAft>
              <a:defRPr sz="1700"/>
            </a:pPr>
            <a:r>
              <a:t>• Kết quả Unit Test: 11/11 tests Passed 100% (Mocktail + BlocTest chứng minh tầng Presentation không phụ thuộc vào Data Source).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6619A3B1639D42874994F77AC02483" ma:contentTypeVersion="3" ma:contentTypeDescription="Create a new document." ma:contentTypeScope="" ma:versionID="6b18b97d0b98c2adce2042d1e2a65f22">
  <xsd:schema xmlns:xsd="http://www.w3.org/2001/XMLSchema" xmlns:xs="http://www.w3.org/2001/XMLSchema" xmlns:p="http://schemas.microsoft.com/office/2006/metadata/properties" xmlns:ns2="5f53e27d-cf80-4459-b77c-5da6482d08cf" targetNamespace="http://schemas.microsoft.com/office/2006/metadata/properties" ma:root="true" ma:fieldsID="1c98cf1e04493246c2b7533a6df78558" ns2:_="">
    <xsd:import namespace="5f53e27d-cf80-4459-b77c-5da6482d08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53e27d-cf80-4459-b77c-5da6482d08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9F2D99-4C43-47E9-835C-04D374F58974}"/>
</file>

<file path=customXml/itemProps2.xml><?xml version="1.0" encoding="utf-8"?>
<ds:datastoreItem xmlns:ds="http://schemas.openxmlformats.org/officeDocument/2006/customXml" ds:itemID="{2A720BA3-AE46-43E0-AB61-BA51741E693B}"/>
</file>

<file path=customXml/itemProps3.xml><?xml version="1.0" encoding="utf-8"?>
<ds:datastoreItem xmlns:ds="http://schemas.openxmlformats.org/officeDocument/2006/customXml" ds:itemID="{E37686D3-F703-46FD-8AC3-D5B24B7B1AB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&lt;&lt;Tên chủ đề&gt;&gt;</vt:lpstr>
      <vt:lpstr>Nội dung</vt:lpstr>
      <vt:lpstr>Phân công công việc</vt:lpstr>
      <vt:lpstr>Nội dung 1 xxx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&lt;&lt;Tên chủ đề&gt;&gt;</dc:title>
  <dc:creator>ndnvien@dut.udn.vn</dc:creator>
  <cp:lastModifiedBy>Nguyễn Duy Nhật Viễn</cp:lastModifiedBy>
  <cp:revision>2</cp:revision>
  <dcterms:created xsi:type="dcterms:W3CDTF">2023-10-18T00:10:58Z</dcterms:created>
  <dcterms:modified xsi:type="dcterms:W3CDTF">2026-10-13T06:44:04Z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0x010100DA6619A3B1639D42874994F77AC02483</vt:lpwstr>
  </property>
</Properties>
</file>