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548640"/>
            <a:ext cx="10362895" cy="502920"/>
          </a:xfrm>
          <a:prstGeom prst="roundRect">
            <a:avLst/>
          </a:prstGeom>
          <a:solidFill>
            <a:srgbClr val="F8FAFC"/>
          </a:solidFill>
          <a:ln w="19050">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991B1B"/>
                </a:solidFill>
                <a:latin typeface="Segoe UI"/>
              </a:defRPr>
            </a:pPr>
            <a:r>
              <a:t>ĐẠI HỌC ĐÀ NẴNG — TRƯỜNG ĐẠI HỌC BÁCH KHOA — KHOA ĐIỆN TỬ - VIỄN THÔNG</a:t>
            </a:r>
          </a:p>
        </p:txBody>
      </p:sp>
      <p:sp>
        <p:nvSpPr>
          <p:cNvPr id="4" name="TextBox 3"/>
          <p:cNvSpPr txBox="1"/>
          <p:nvPr/>
        </p:nvSpPr>
        <p:spPr>
          <a:xfrm>
            <a:off x="914400" y="1188720"/>
            <a:ext cx="10362895" cy="365760"/>
          </a:xfrm>
          <a:prstGeom prst="rect">
            <a:avLst/>
          </a:prstGeom>
          <a:noFill/>
        </p:spPr>
        <p:txBody>
          <a:bodyPr wrap="none">
            <a:spAutoFit/>
          </a:bodyPr>
          <a:lstStyle/>
          <a:p>
            <a:pPr algn="ctr">
              <a:defRPr sz="1300" b="1">
                <a:solidFill>
                  <a:srgbClr val="1D4ED8"/>
                </a:solidFill>
                <a:latin typeface="Segoe UI"/>
              </a:defRPr>
            </a:pPr>
            <a:r>
              <a:t>HỌC PHẦN: LẬP TRÌNH ĐA NỀN TẢNG (CROSS-PLATFORM PROGRAMMING)</a:t>
            </a:r>
          </a:p>
        </p:txBody>
      </p:sp>
      <p:sp>
        <p:nvSpPr>
          <p:cNvPr id="5" name="Rounded Rectangle 4"/>
          <p:cNvSpPr/>
          <p:nvPr/>
        </p:nvSpPr>
        <p:spPr>
          <a:xfrm>
            <a:off x="914400" y="1691640"/>
            <a:ext cx="10362895" cy="2103120"/>
          </a:xfrm>
          <a:prstGeom prst="roundRect">
            <a:avLst/>
          </a:prstGeom>
          <a:solidFill>
            <a:srgbClr val="EFF6FF"/>
          </a:solidFill>
          <a:ln w="254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a:lstStyle/>
          <a:p>
            <a:pPr algn="ctr">
              <a:spcAft>
                <a:spcPts val="600"/>
              </a:spcAft>
              <a:defRPr sz="1400" b="1">
                <a:solidFill>
                  <a:srgbClr val="1D4ED8"/>
                </a:solidFill>
                <a:latin typeface="Segoe UI"/>
              </a:defRPr>
            </a:pPr>
            <a:r>
              <a:t>BÁO CÁO TIẾN ĐỘ ĐỒ ÁN — TUẦN 1</a:t>
            </a:r>
          </a:p>
          <a:p>
            <a:pPr algn="ctr">
              <a:spcAft>
                <a:spcPts val="800"/>
              </a:spcAft>
              <a:defRPr sz="2400" b="1">
                <a:solidFill>
                  <a:srgbClr val="0F172A"/>
                </a:solidFill>
                <a:latin typeface="Segoe UI"/>
              </a:defRPr>
            </a:pPr>
            <a:r>
              <a:t>CHỦ ĐỀ 04: KIẾN TRÚC ỨNG DỤNG FLUTTER</a:t>
            </a:r>
            <a:br/>
            <a:r>
              <a:t>CLEAN ARCHITECTURE &amp; DEPENDENCY INJECTION (DI)</a:t>
            </a:r>
          </a:p>
          <a:p>
            <a:pPr algn="ctr">
              <a:defRPr sz="1400" i="1">
                <a:solidFill>
                  <a:srgbClr val="475569"/>
                </a:solidFill>
                <a:latin typeface="Segoe UI"/>
              </a:defRPr>
            </a:pPr>
            <a:r>
              <a:t>Ứng dụng thực nghiệm: PhePhim (Movie Explorer — Giao diện sáng &amp; REST API thật)</a:t>
            </a:r>
          </a:p>
        </p:txBody>
      </p:sp>
      <p:sp>
        <p:nvSpPr>
          <p:cNvPr id="6" name="Rounded Rectangle 5"/>
          <p:cNvSpPr/>
          <p:nvPr/>
        </p:nvSpPr>
        <p:spPr>
          <a:xfrm>
            <a:off x="914400" y="4023360"/>
            <a:ext cx="5029200" cy="20116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GIẢNG VIÊN HƯỚNG DẪN</a:t>
            </a:r>
          </a:p>
          <a:p>
            <a:pPr>
              <a:spcAft>
                <a:spcPts val="600"/>
              </a:spcAft>
              <a:defRPr sz="1500" b="1">
                <a:solidFill>
                  <a:srgbClr val="0F172A"/>
                </a:solidFill>
              </a:defRPr>
            </a:pPr>
            <a:r>
              <a:t>• TS. Nguyễn Duy Nhật Viễn</a:t>
            </a:r>
          </a:p>
          <a:p>
            <a:pPr>
              <a:defRPr sz="1300">
                <a:solidFill>
                  <a:srgbClr val="475569"/>
                </a:solidFill>
              </a:defRPr>
            </a:pPr>
            <a:r>
              <a:t>Khoa Điện tử - Viễn thông</a:t>
            </a:r>
            <a:br/>
            <a:r>
              <a:t>Trường Đại học Bách Khoa — Đại học Đà Nẵng</a:t>
            </a:r>
          </a:p>
        </p:txBody>
      </p:sp>
      <p:sp>
        <p:nvSpPr>
          <p:cNvPr id="7" name="Rounded Rectangle 6"/>
          <p:cNvSpPr/>
          <p:nvPr/>
        </p:nvSpPr>
        <p:spPr>
          <a:xfrm>
            <a:off x="6248095" y="4023360"/>
            <a:ext cx="5029200" cy="20116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SINH VIÊN THỰC HIỆN</a:t>
            </a:r>
          </a:p>
          <a:p>
            <a:pPr>
              <a:defRPr sz="1350" b="1">
                <a:solidFill>
                  <a:srgbClr val="0F172A"/>
                </a:solidFill>
              </a:defRPr>
            </a:pPr>
            <a:r>
              <a:t>1. Huỳnh Ngọc Tịnh Phong (Trưởng nhóm)</a:t>
            </a:r>
          </a:p>
          <a:p>
            <a:pPr>
              <a:spcAft>
                <a:spcPts val="600"/>
              </a:spcAft>
              <a:defRPr sz="1100">
                <a:solidFill>
                  <a:srgbClr val="475569"/>
                </a:solidFill>
              </a:defRPr>
            </a:pPr>
            <a:r>
              <a:t>    Vai trò: Lõi nghiệp vụ (Domain), BLoC State Management, DI &amp; Unit Testing</a:t>
            </a:r>
          </a:p>
          <a:p>
            <a:pPr>
              <a:defRPr sz="1350" b="1">
                <a:solidFill>
                  <a:srgbClr val="0F172A"/>
                </a:solidFill>
              </a:defRPr>
            </a:pPr>
            <a:r>
              <a:t>2. Phạm Nhật Tân</a:t>
            </a:r>
          </a:p>
          <a:p>
            <a:pPr>
              <a:defRPr sz="1100">
                <a:solidFill>
                  <a:srgbClr val="475569"/>
                </a:solidFill>
              </a:defRPr>
            </a:pPr>
            <a:r>
              <a:t>    Vai trò: UI Design (Light Theme), Data Layer (REST API &amp; DTOs), Báo cáo &amp; Slide</a:t>
            </a:r>
          </a:p>
        </p:txBody>
      </p:sp>
      <p:sp>
        <p:nvSpPr>
          <p:cNvPr id="8" name="Rectangle 7"/>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10" name="TextBox 9"/>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4389120" cy="329184"/>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latin typeface="Segoe UI"/>
              </a:defRPr>
            </a:pPr>
            <a:r>
              <a:t>CHỦ ĐỀ 04: CLEAN ARCHITECTURE &amp; DEPENDENCY INJECTION</a:t>
            </a:r>
          </a:p>
        </p:txBody>
      </p:sp>
      <p:sp>
        <p:nvSpPr>
          <p:cNvPr id="4" name="TextBox 3"/>
          <p:cNvSpPr txBox="1"/>
          <p:nvPr/>
        </p:nvSpPr>
        <p:spPr>
          <a:xfrm>
            <a:off x="685800" y="621792"/>
            <a:ext cx="10789920" cy="640080"/>
          </a:xfrm>
          <a:prstGeom prst="rect">
            <a:avLst/>
          </a:prstGeom>
          <a:noFill/>
        </p:spPr>
        <p:txBody>
          <a:bodyPr wrap="square" lIns="0" tIns="0" rIns="0" bIns="0">
            <a:spAutoFit/>
          </a:bodyPr>
          <a:lstStyle/>
          <a:p>
            <a:pPr>
              <a:defRPr sz="2200" b="1">
                <a:solidFill>
                  <a:srgbClr val="0F172A"/>
                </a:solidFill>
                <a:latin typeface="Segoe UI"/>
              </a:defRPr>
            </a:pPr>
            <a:r>
              <a:t>Mục Lục Nội Dung Báo Cáo Tiến Độ</a:t>
            </a:r>
          </a:p>
        </p:txBody>
      </p:sp>
      <p:sp>
        <p:nvSpPr>
          <p:cNvPr id="5" name="Rounded Rectangle 4"/>
          <p:cNvSpPr/>
          <p:nvPr/>
        </p:nvSpPr>
        <p:spPr>
          <a:xfrm>
            <a:off x="731520" y="1371600"/>
            <a:ext cx="5212080" cy="475488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PHẦN I: CƠ SỞ LÝ THUYẾT &amp; KIẾN TRÚC</a:t>
            </a:r>
          </a:p>
          <a:p>
            <a:pPr>
              <a:defRPr sz="1350" b="1">
                <a:solidFill>
                  <a:srgbClr val="1D4ED8"/>
                </a:solidFill>
              </a:defRPr>
            </a:pPr>
            <a:r>
              <a:t>1. Bảng phân công công việc (WBS)</a:t>
            </a:r>
          </a:p>
          <a:p>
            <a:pPr>
              <a:spcAft>
                <a:spcPts val="600"/>
              </a:spcAft>
              <a:defRPr sz="1150">
                <a:solidFill>
                  <a:srgbClr val="475569"/>
                </a:solidFill>
              </a:defRPr>
            </a:pPr>
            <a:r>
              <a:t>   → Phân rã nhiệm vụ chi tiết và tỷ lệ đóng góp của từng thành viên.</a:t>
            </a:r>
          </a:p>
          <a:p>
            <a:pPr>
              <a:defRPr sz="1350" b="1">
                <a:solidFill>
                  <a:srgbClr val="1D4ED8"/>
                </a:solidFill>
              </a:defRPr>
            </a:pPr>
            <a:r>
              <a:t>2. Tổng quan Clean Architecture</a:t>
            </a:r>
          </a:p>
          <a:p>
            <a:pPr>
              <a:spcAft>
                <a:spcPts val="600"/>
              </a:spcAft>
              <a:defRPr sz="1150">
                <a:solidFill>
                  <a:srgbClr val="475569"/>
                </a:solidFill>
              </a:defRPr>
            </a:pPr>
            <a:r>
              <a:t>   → Quy tắc phụ thuộc (The Dependency Rule) &amp; 3 đặc tính then chốt.</a:t>
            </a:r>
          </a:p>
          <a:p>
            <a:pPr>
              <a:defRPr sz="1350" b="1">
                <a:solidFill>
                  <a:srgbClr val="1D4ED8"/>
                </a:solidFill>
              </a:defRPr>
            </a:pPr>
            <a:r>
              <a:t>3. Cấu trúc chi tiết Tầng Domain</a:t>
            </a:r>
          </a:p>
          <a:p>
            <a:pPr>
              <a:spcAft>
                <a:spcPts val="600"/>
              </a:spcAft>
              <a:defRPr sz="1150">
                <a:solidFill>
                  <a:srgbClr val="475569"/>
                </a:solidFill>
              </a:defRPr>
            </a:pPr>
            <a:r>
              <a:t>   → Pure Dart: Thực thể (Entities), Hợp đồng (Repositories) &amp; Use Cases.</a:t>
            </a:r>
          </a:p>
          <a:p>
            <a:pPr>
              <a:defRPr sz="1350" b="1">
                <a:solidFill>
                  <a:srgbClr val="1D4ED8"/>
                </a:solidFill>
              </a:defRPr>
            </a:pPr>
            <a:r>
              <a:t>4. Cấu trúc chi tiết Tầng Data</a:t>
            </a:r>
          </a:p>
          <a:p>
            <a:pPr>
              <a:spcAft>
                <a:spcPts val="600"/>
              </a:spcAft>
              <a:defRPr sz="1150">
                <a:solidFill>
                  <a:srgbClr val="475569"/>
                </a:solidFill>
              </a:defRPr>
            </a:pPr>
            <a:r>
              <a:t>   → REST API thật, Mô hình chuyển đổi (DTOs) &amp; Triển khai Repository.</a:t>
            </a:r>
          </a:p>
          <a:p>
            <a:pPr>
              <a:defRPr sz="1350" b="1">
                <a:solidFill>
                  <a:srgbClr val="1D4ED8"/>
                </a:solidFill>
              </a:defRPr>
            </a:pPr>
            <a:r>
              <a:t>5. Cấu trúc chi tiết Tầng Presentation</a:t>
            </a:r>
          </a:p>
          <a:p>
            <a:pPr>
              <a:spcAft>
                <a:spcPts val="600"/>
              </a:spcAft>
              <a:defRPr sz="1150">
                <a:solidFill>
                  <a:srgbClr val="475569"/>
                </a:solidFill>
              </a:defRPr>
            </a:pPr>
            <a:r>
              <a:t>   → Mô hình BLoC (Event/State) &amp; Giao diện sáng PhePhim (Light Theme).</a:t>
            </a:r>
          </a:p>
        </p:txBody>
      </p:sp>
      <p:sp>
        <p:nvSpPr>
          <p:cNvPr id="6" name="Rounded Rectangle 5"/>
          <p:cNvSpPr/>
          <p:nvPr/>
        </p:nvSpPr>
        <p:spPr>
          <a:xfrm>
            <a:off x="6248095" y="1371600"/>
            <a:ext cx="5212080" cy="4754880"/>
          </a:xfrm>
          <a:prstGeom prst="roundRect">
            <a:avLst/>
          </a:prstGeom>
          <a:solidFill>
            <a:srgbClr val="F8FAFC"/>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PHẦN II: NGUYÊN LÝ &amp; KẾT QUẢ ĐẠT ĐƯỢC</a:t>
            </a:r>
          </a:p>
          <a:p>
            <a:pPr>
              <a:defRPr sz="1350" b="1">
                <a:solidFill>
                  <a:srgbClr val="10955D"/>
                </a:solidFill>
              </a:defRPr>
            </a:pPr>
            <a:r>
              <a:t>6. Nguyên lý Đảo ngược phụ thuộc (DIP)</a:t>
            </a:r>
          </a:p>
          <a:p>
            <a:pPr>
              <a:spcAft>
                <a:spcPts val="600"/>
              </a:spcAft>
              <a:defRPr sz="1150">
                <a:solidFill>
                  <a:srgbClr val="475569"/>
                </a:solidFill>
              </a:defRPr>
            </a:pPr>
            <a:r>
              <a:t>   → Bản chất chữ D trong SOLID và Repository Pattern trong Flutter.</a:t>
            </a:r>
          </a:p>
          <a:p>
            <a:pPr>
              <a:defRPr sz="1350" b="1">
                <a:solidFill>
                  <a:srgbClr val="10955D"/>
                </a:solidFill>
              </a:defRPr>
            </a:pPr>
            <a:r>
              <a:t>7. Dependency Injection &amp; Khởi tạo</a:t>
            </a:r>
          </a:p>
          <a:p>
            <a:pPr>
              <a:spcAft>
                <a:spcPts val="600"/>
              </a:spcAft>
              <a:defRPr sz="1150">
                <a:solidFill>
                  <a:srgbClr val="475569"/>
                </a:solidFill>
              </a:defRPr>
            </a:pPr>
            <a:r>
              <a:t>   → Service Locator get_it, WidgetsBinding &amp; MultiBlocProvider.</a:t>
            </a:r>
          </a:p>
          <a:p>
            <a:pPr>
              <a:defRPr sz="1350" b="1">
                <a:solidFill>
                  <a:srgbClr val="10955D"/>
                </a:solidFill>
              </a:defRPr>
            </a:pPr>
            <a:r>
              <a:t>8. Những kết quả cụ thể đã làm được</a:t>
            </a:r>
          </a:p>
          <a:p>
            <a:pPr>
              <a:spcAft>
                <a:spcPts val="600"/>
              </a:spcAft>
              <a:defRPr sz="1150">
                <a:solidFill>
                  <a:srgbClr val="475569"/>
                </a:solidFill>
              </a:defRPr>
            </a:pPr>
            <a:r>
              <a:t>   → Ứng dụng PhePhim chạy REST API thật, xử lý lỗi mất mạng &amp; nút Retry.</a:t>
            </a:r>
          </a:p>
          <a:p>
            <a:pPr>
              <a:defRPr sz="1350" b="1">
                <a:solidFill>
                  <a:srgbClr val="10955D"/>
                </a:solidFill>
              </a:defRPr>
            </a:pPr>
            <a:r>
              <a:t>9. Kiểm thử tự động (Unit Test)</a:t>
            </a:r>
          </a:p>
          <a:p>
            <a:pPr>
              <a:spcAft>
                <a:spcPts val="600"/>
              </a:spcAft>
              <a:defRPr sz="1150">
                <a:solidFill>
                  <a:srgbClr val="475569"/>
                </a:solidFill>
              </a:defRPr>
            </a:pPr>
            <a:r>
              <a:t>   → Bộ 8/8 tests 100% Passed bằng mocktail và bloc_test, minh chứng Decoupling.</a:t>
            </a:r>
          </a:p>
          <a:p>
            <a:pPr>
              <a:defRPr sz="1350" b="1">
                <a:solidFill>
                  <a:srgbClr val="10955D"/>
                </a:solidFill>
              </a:defRPr>
            </a:pPr>
            <a:r>
              <a:t>10. Lộ trình Tuần 2 &amp; Tổng kết</a:t>
            </a:r>
          </a:p>
          <a:p>
            <a:pPr>
              <a:spcAft>
                <a:spcPts val="600"/>
              </a:spcAft>
              <a:defRPr sz="1150">
                <a:solidFill>
                  <a:srgbClr val="475569"/>
                </a:solidFill>
              </a:defRPr>
            </a:pPr>
            <a:r>
              <a:t>   → Kế hoạch mở rộng chi tiết phim, bộ nhớ đệm Offline Cache và kết luận.</a:t>
            </a:r>
          </a:p>
        </p:txBody>
      </p:sp>
      <p:sp>
        <p:nvSpPr>
          <p:cNvPr id="7" name="Rectangle 6"/>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9" name="TextBox 8"/>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4389120" cy="329184"/>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latin typeface="Segoe UI"/>
              </a:defRPr>
            </a:pPr>
            <a:r>
              <a:t>CHỦ ĐỀ 04: CLEAN ARCHITECTURE &amp; DEPENDENCY INJECTION</a:t>
            </a:r>
          </a:p>
        </p:txBody>
      </p:sp>
      <p:sp>
        <p:nvSpPr>
          <p:cNvPr id="4" name="TextBox 3"/>
          <p:cNvSpPr txBox="1"/>
          <p:nvPr/>
        </p:nvSpPr>
        <p:spPr>
          <a:xfrm>
            <a:off x="685800" y="621792"/>
            <a:ext cx="10789920" cy="640080"/>
          </a:xfrm>
          <a:prstGeom prst="rect">
            <a:avLst/>
          </a:prstGeom>
          <a:noFill/>
        </p:spPr>
        <p:txBody>
          <a:bodyPr wrap="square" lIns="0" tIns="0" rIns="0" bIns="0">
            <a:spAutoFit/>
          </a:bodyPr>
          <a:lstStyle/>
          <a:p>
            <a:pPr>
              <a:defRPr sz="2200" b="1">
                <a:solidFill>
                  <a:srgbClr val="0F172A"/>
                </a:solidFill>
                <a:latin typeface="Segoe UI"/>
              </a:defRPr>
            </a:pPr>
            <a:r>
              <a:t>1. Bảng Phân Công Công Việc Chi Tiết (WBS)</a:t>
            </a:r>
          </a:p>
        </p:txBody>
      </p:sp>
      <p:graphicFrame>
        <p:nvGraphicFramePr>
          <p:cNvPr id="5" name="Table 4"/>
          <p:cNvGraphicFramePr>
            <a:graphicFrameLocks noGrp="1"/>
          </p:cNvGraphicFramePr>
          <p:nvPr/>
        </p:nvGraphicFramePr>
        <p:xfrm>
          <a:off x="731520" y="1371600"/>
          <a:ext cx="10728655" cy="3657600"/>
        </p:xfrm>
        <a:graphic>
          <a:graphicData uri="http://schemas.openxmlformats.org/drawingml/2006/table">
            <a:tbl>
              <a:tblPr firstRow="1" bandRow="1">
                <a:tableStyleId>{5C22544A-7EE6-4342-B048-85BDC9FD1C3A}</a:tableStyleId>
              </a:tblPr>
              <a:tblGrid>
                <a:gridCol w="2011680"/>
                <a:gridCol w="2194560"/>
                <a:gridCol w="5150815"/>
                <a:gridCol w="1371600"/>
              </a:tblGrid>
              <a:tr h="1219200">
                <a:tc>
                  <a:txBody>
                    <a:bodyPr/>
                    <a:lstStyle/>
                    <a:p>
                      <a:pPr algn="ctr">
                        <a:defRPr sz="1300" b="1">
                          <a:solidFill>
                            <a:srgbClr val="FFFFFF"/>
                          </a:solidFill>
                        </a:defRPr>
                      </a:pPr>
                      <a:r>
                        <a:t>Thành viên</a:t>
                      </a:r>
                    </a:p>
                  </a:txBody>
                  <a:tcPr>
                    <a:solidFill>
                      <a:srgbClr val="1D4ED8"/>
                    </a:solidFill>
                  </a:tcPr>
                </a:tc>
                <a:tc>
                  <a:txBody>
                    <a:bodyPr/>
                    <a:lstStyle/>
                    <a:p>
                      <a:pPr algn="ctr">
                        <a:defRPr sz="1300" b="1">
                          <a:solidFill>
                            <a:srgbClr val="FFFFFF"/>
                          </a:solidFill>
                        </a:defRPr>
                      </a:pPr>
                      <a:r>
                        <a:t>Vai trò đảm nhận</a:t>
                      </a:r>
                    </a:p>
                  </a:txBody>
                  <a:tcPr>
                    <a:solidFill>
                      <a:srgbClr val="1D4ED8"/>
                    </a:solidFill>
                  </a:tcPr>
                </a:tc>
                <a:tc>
                  <a:txBody>
                    <a:bodyPr/>
                    <a:lstStyle/>
                    <a:p>
                      <a:pPr algn="ctr">
                        <a:defRPr sz="1300" b="1">
                          <a:solidFill>
                            <a:srgbClr val="FFFFFF"/>
                          </a:solidFill>
                        </a:defRPr>
                      </a:pPr>
                      <a:r>
                        <a:t>Nhiệm vụ cụ thể đã thực hiện trong Tuần 1</a:t>
                      </a:r>
                    </a:p>
                  </a:txBody>
                  <a:tcPr>
                    <a:solidFill>
                      <a:srgbClr val="1D4ED8"/>
                    </a:solidFill>
                  </a:tcPr>
                </a:tc>
                <a:tc>
                  <a:txBody>
                    <a:bodyPr/>
                    <a:lstStyle/>
                    <a:p>
                      <a:pPr algn="ctr">
                        <a:defRPr sz="1300" b="1">
                          <a:solidFill>
                            <a:srgbClr val="FFFFFF"/>
                          </a:solidFill>
                        </a:defRPr>
                      </a:pPr>
                      <a:r>
                        <a:t>Tỷ lệ đóng góp</a:t>
                      </a:r>
                    </a:p>
                  </a:txBody>
                  <a:tcPr>
                    <a:solidFill>
                      <a:srgbClr val="1D4ED8"/>
                    </a:solidFill>
                  </a:tcPr>
                </a:tc>
              </a:tr>
              <a:tr h="1219200">
                <a:tc>
                  <a:txBody>
                    <a:bodyPr wrap="square"/>
                    <a:lstStyle/>
                    <a:p>
                      <a:pPr algn="ctr">
                        <a:defRPr sz="1150" b="1">
                          <a:solidFill>
                            <a:srgbClr val="0F172A"/>
                          </a:solidFill>
                        </a:defRPr>
                      </a:pPr>
                      <a:r>
                        <a:t>Huỳnh Ngọc Tịnh Phong</a:t>
                      </a:r>
                      <a:br/>
                      <a:r>
                        <a:t>(Trưởng nhóm)</a:t>
                      </a:r>
                    </a:p>
                  </a:txBody>
                  <a:tcPr>
                    <a:solidFill>
                      <a:srgbClr val="EFF6FF"/>
                    </a:solidFill>
                  </a:tcPr>
                </a:tc>
                <a:tc>
                  <a:txBody>
                    <a:bodyPr wrap="square"/>
                    <a:lstStyle/>
                    <a:p>
                      <a:pPr algn="ctr">
                        <a:defRPr sz="1150" b="0">
                          <a:solidFill>
                            <a:srgbClr val="0F172A"/>
                          </a:solidFill>
                        </a:defRPr>
                      </a:pPr>
                      <a:r>
                        <a:t>• Business Logic</a:t>
                      </a:r>
                      <a:br/>
                      <a:r>
                        <a:t>• State Management</a:t>
                      </a:r>
                      <a:br/>
                      <a:r>
                        <a:t>• Dependency Injection</a:t>
                      </a:r>
                      <a:br/>
                      <a:r>
                        <a:t>• Unit Testing</a:t>
                      </a:r>
                    </a:p>
                  </a:txBody>
                  <a:tcPr>
                    <a:solidFill>
                      <a:srgbClr val="EFF6FF"/>
                    </a:solidFill>
                  </a:tcPr>
                </a:tc>
                <a:tc>
                  <a:txBody>
                    <a:bodyPr wrap="square"/>
                    <a:lstStyle/>
                    <a:p>
                      <a:pPr>
                        <a:defRPr sz="1150">
                          <a:solidFill>
                            <a:srgbClr val="0F172A"/>
                          </a:solidFill>
                        </a:defRPr>
                      </a:pPr>
                      <a:r>
                        <a:t>• Thiết kế &amp; hiện thực tầng Domain (Movie entity, MoviesRepository contract, GetMovies UseCase).</a:t>
                      </a:r>
                      <a:br/>
                      <a:r>
                        <a:t>• Cấu hình DI Container với get_it trong injection.dart (Service Locator).</a:t>
                      </a:r>
                      <a:br/>
                      <a:r>
                        <a:t>• Xây dựng MoviesBloc quản lý trạng thái tải phim (Initial, Loading, Success, Failure).</a:t>
                      </a:r>
                      <a:br/>
                      <a:r>
                        <a:t>• Viết toàn bộ bộ kiểm thử tự động Unit Tests (mocktail, bloc_test đạt 8/8 tests passed).</a:t>
                      </a:r>
                    </a:p>
                  </a:txBody>
                  <a:tcPr>
                    <a:solidFill>
                      <a:srgbClr val="EFF6FF"/>
                    </a:solidFill>
                  </a:tcPr>
                </a:tc>
                <a:tc>
                  <a:txBody>
                    <a:bodyPr wrap="square"/>
                    <a:lstStyle/>
                    <a:p>
                      <a:pPr algn="ctr">
                        <a:defRPr sz="1150" b="1">
                          <a:solidFill>
                            <a:srgbClr val="0F172A"/>
                          </a:solidFill>
                        </a:defRPr>
                      </a:pPr>
                      <a:r>
                        <a:t>50%</a:t>
                      </a:r>
                      <a:br/>
                      <a:r>
                        <a:t>(Hoàn thành 100% mục tiêu)</a:t>
                      </a:r>
                    </a:p>
                  </a:txBody>
                  <a:tcPr>
                    <a:solidFill>
                      <a:srgbClr val="EFF6FF"/>
                    </a:solidFill>
                  </a:tcPr>
                </a:tc>
              </a:tr>
              <a:tr h="1219200">
                <a:tc>
                  <a:txBody>
                    <a:bodyPr wrap="square"/>
                    <a:lstStyle/>
                    <a:p>
                      <a:pPr algn="ctr">
                        <a:defRPr sz="1150" b="1">
                          <a:solidFill>
                            <a:srgbClr val="0F172A"/>
                          </a:solidFill>
                        </a:defRPr>
                      </a:pPr>
                      <a:r>
                        <a:t>Phạm Nhật Tân</a:t>
                      </a:r>
                    </a:p>
                  </a:txBody>
                  <a:tcPr>
                    <a:solidFill>
                      <a:srgbClr val="F8FAFC"/>
                    </a:solidFill>
                  </a:tcPr>
                </a:tc>
                <a:tc>
                  <a:txBody>
                    <a:bodyPr wrap="square"/>
                    <a:lstStyle/>
                    <a:p>
                      <a:pPr algn="ctr">
                        <a:defRPr sz="1150" b="0">
                          <a:solidFill>
                            <a:srgbClr val="0F172A"/>
                          </a:solidFill>
                        </a:defRPr>
                      </a:pPr>
                      <a:r>
                        <a:t>• UI Design</a:t>
                      </a:r>
                      <a:br/>
                      <a:r>
                        <a:t>• Data Layer &amp; REST API</a:t>
                      </a:r>
                      <a:br/>
                      <a:r>
                        <a:t>• Báo cáo &amp; Slide</a:t>
                      </a:r>
                    </a:p>
                  </a:txBody>
                  <a:tcPr>
                    <a:solidFill>
                      <a:srgbClr val="F8FAFC"/>
                    </a:solidFill>
                  </a:tcPr>
                </a:tc>
                <a:tc>
                  <a:txBody>
                    <a:bodyPr wrap="square"/>
                    <a:lstStyle/>
                    <a:p>
                      <a:pPr>
                        <a:defRPr sz="1150">
                          <a:solidFill>
                            <a:srgbClr val="0F172A"/>
                          </a:solidFill>
                        </a:defRPr>
                      </a:pPr>
                      <a:r>
                        <a:t>• Hiện thực Data Layer: MoviesRemoteDataSource gọi REST API thật (GitHub Raw JSON 24 phim).</a:t>
                      </a:r>
                      <a:br/>
                      <a:r>
                        <a:t>• Xây dựng MovieModel (fromJson/toJson) và MoviesRepositoryImpl thực thi hợp đồng Domain.</a:t>
                      </a:r>
                      <a:br/>
                      <a:r>
                        <a:t>• Thiết kế giao diện sáng PhePhim (Light Theme), Card phim bo góc, poster, IMDb rating.</a:t>
                      </a:r>
                      <a:br/>
                      <a:r>
                        <a:t>• Xây dựng màn hình báo lỗi mất mạng kèm nút 'Thử lại' (Retry) và soạn thảo Slide thuyết trình.</a:t>
                      </a:r>
                    </a:p>
                  </a:txBody>
                  <a:tcPr>
                    <a:solidFill>
                      <a:srgbClr val="F8FAFC"/>
                    </a:solidFill>
                  </a:tcPr>
                </a:tc>
                <a:tc>
                  <a:txBody>
                    <a:bodyPr wrap="square"/>
                    <a:lstStyle/>
                    <a:p>
                      <a:pPr algn="ctr">
                        <a:defRPr sz="1150" b="1">
                          <a:solidFill>
                            <a:srgbClr val="0F172A"/>
                          </a:solidFill>
                        </a:defRPr>
                      </a:pPr>
                      <a:r>
                        <a:t>50%</a:t>
                      </a:r>
                      <a:br/>
                      <a:r>
                        <a:t>(Hoàn thành 100% mục tiêu)</a:t>
                      </a:r>
                    </a:p>
                  </a:txBody>
                  <a:tcPr>
                    <a:solidFill>
                      <a:srgbClr val="F8FAFC"/>
                    </a:solidFill>
                  </a:tcPr>
                </a:tc>
              </a:tr>
            </a:tbl>
          </a:graphicData>
        </a:graphic>
      </p:graphicFrame>
      <p:sp>
        <p:nvSpPr>
          <p:cNvPr id="6" name="Rounded Rectangle 5"/>
          <p:cNvSpPr/>
          <p:nvPr/>
        </p:nvSpPr>
        <p:spPr>
          <a:xfrm>
            <a:off x="731520" y="5212080"/>
            <a:ext cx="10728655" cy="914400"/>
          </a:xfrm>
          <a:prstGeom prst="roundRect">
            <a:avLst/>
          </a:prstGeom>
          <a:solidFill>
            <a:srgbClr val="F0FDF4"/>
          </a:solidFill>
          <a:ln w="1270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200" b="1">
                <a:solidFill>
                  <a:srgbClr val="10955D"/>
                </a:solidFill>
              </a:defRPr>
            </a:pPr>
            <a:r>
              <a:t>✔ ĐÁNH GIÁ TIẾN ĐỘ TUẦN 1: Cả hai thành viên đã hoàn thành 100% khối lượng công việc được phân công.</a:t>
            </a:r>
          </a:p>
          <a:p>
            <a:pPr>
              <a:defRPr sz="1100">
                <a:solidFill>
                  <a:srgbClr val="475569"/>
                </a:solidFill>
              </a:defRPr>
            </a:pPr>
            <a:r>
              <a:t>Kiến trúc 3 lớp kết nối chặt chẽ, hoạt động trơn tru với REST API thật và 100% Unit Tests đã vượt qua.</a:t>
            </a:r>
          </a:p>
        </p:txBody>
      </p:sp>
      <p:sp>
        <p:nvSpPr>
          <p:cNvPr id="7" name="Rectangle 6"/>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9" name="TextBox 8"/>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4389120" cy="329184"/>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latin typeface="Segoe UI"/>
              </a:defRPr>
            </a:pPr>
            <a:r>
              <a:t>CHỦ ĐỀ 04: CLEAN ARCHITECTURE &amp; DEPENDENCY INJECTION</a:t>
            </a:r>
          </a:p>
        </p:txBody>
      </p:sp>
      <p:sp>
        <p:nvSpPr>
          <p:cNvPr id="4" name="TextBox 3"/>
          <p:cNvSpPr txBox="1"/>
          <p:nvPr/>
        </p:nvSpPr>
        <p:spPr>
          <a:xfrm>
            <a:off x="685800" y="621792"/>
            <a:ext cx="10789920" cy="640080"/>
          </a:xfrm>
          <a:prstGeom prst="rect">
            <a:avLst/>
          </a:prstGeom>
          <a:noFill/>
        </p:spPr>
        <p:txBody>
          <a:bodyPr wrap="square" lIns="0" tIns="0" rIns="0" bIns="0">
            <a:spAutoFit/>
          </a:bodyPr>
          <a:lstStyle/>
          <a:p>
            <a:pPr>
              <a:defRPr sz="2200" b="1">
                <a:solidFill>
                  <a:srgbClr val="0F172A"/>
                </a:solidFill>
                <a:latin typeface="Segoe UI"/>
              </a:defRPr>
            </a:pPr>
            <a:r>
              <a:t>2. Tổng Quan Clean Architecture &amp; Quy Tắc Phụ Thuộc</a:t>
            </a:r>
          </a:p>
        </p:txBody>
      </p:sp>
      <p:sp>
        <p:nvSpPr>
          <p:cNvPr id="5" name="Rounded Rectangle 4"/>
          <p:cNvSpPr/>
          <p:nvPr/>
        </p:nvSpPr>
        <p:spPr>
          <a:xfrm>
            <a:off x="731520" y="1371600"/>
            <a:ext cx="5212080" cy="475488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TRIẾT LÝ VÀ QUY TẮC PHỤ THUỘC (DEPENDENCY RULE)</a:t>
            </a:r>
          </a:p>
          <a:p>
            <a:pPr>
              <a:defRPr sz="1250" b="1">
                <a:solidFill>
                  <a:srgbClr val="1D4ED8"/>
                </a:solidFill>
              </a:defRPr>
            </a:pPr>
            <a:r>
              <a:t>• Nguồn gốc &amp; Mục tiêu:</a:t>
            </a:r>
          </a:p>
          <a:p>
            <a:pPr>
              <a:spcAft>
                <a:spcPts val="600"/>
              </a:spcAft>
              <a:defRPr sz="1100">
                <a:solidFill>
                  <a:srgbClr val="475569"/>
                </a:solidFill>
              </a:defRPr>
            </a:pPr>
            <a:r>
              <a:t>  Do Robert C. Martin (Uncle Bob) khởi xướng. Mục tiêu tối thượng là phân tách ranh giới rõ ràng (Separation of Concerns), giúp mã nguồn dễ hiểu, dễ kiểm thử và độc lập với các công nghệ bên ngoài.</a:t>
            </a:r>
          </a:p>
          <a:p>
            <a:pPr>
              <a:defRPr sz="1250" b="1">
                <a:solidFill>
                  <a:srgbClr val="1D4ED8"/>
                </a:solidFill>
              </a:defRPr>
            </a:pPr>
            <a:r>
              <a:t>• Quy tắc phụ thuộc (The Dependency Rule):</a:t>
            </a:r>
          </a:p>
          <a:p>
            <a:pPr>
              <a:spcAft>
                <a:spcPts val="600"/>
              </a:spcAft>
              <a:defRPr sz="1100">
                <a:solidFill>
                  <a:srgbClr val="475569"/>
                </a:solidFill>
              </a:defRPr>
            </a:pPr>
            <a:r>
              <a:t>  'Source code dependencies must point only inward, toward higher-level policies'. Mọi sự phụ thuộc trong mã nguồn CHỈ ĐƯỢC PHÉP hướng vào trong, về phía các chính sách nghiệp vụ cấp cao (Domain).</a:t>
            </a:r>
          </a:p>
          <a:p>
            <a:pPr>
              <a:defRPr sz="1250" b="1">
                <a:solidFill>
                  <a:srgbClr val="1D4ED8"/>
                </a:solidFill>
              </a:defRPr>
            </a:pPr>
            <a:r>
              <a:t>• Tính độc lập tuyệt đối của Domain:</a:t>
            </a:r>
          </a:p>
          <a:p>
            <a:pPr>
              <a:spcAft>
                <a:spcPts val="600"/>
              </a:spcAft>
              <a:defRPr sz="1100">
                <a:solidFill>
                  <a:srgbClr val="475569"/>
                </a:solidFill>
              </a:defRPr>
            </a:pPr>
            <a:r>
              <a:t>  Tầng Domain nằm ở tâm điểm, là Pure Dart. Domain TUYỆT ĐỐI KHÔNG biết tới sự tồn tại của Flutter UI, HTTP Client, Database, hay bất kỳ thư viện bên thứ ba nào.</a:t>
            </a:r>
          </a:p>
          <a:p>
            <a:pPr>
              <a:defRPr sz="1250" b="1">
                <a:solidFill>
                  <a:srgbClr val="1D4ED8"/>
                </a:solidFill>
              </a:defRPr>
            </a:pPr>
            <a:r>
              <a:t>• Tính khả chuyển (Flexibility):</a:t>
            </a:r>
          </a:p>
          <a:p>
            <a:pPr>
              <a:spcAft>
                <a:spcPts val="600"/>
              </a:spcAft>
              <a:defRPr sz="1100">
                <a:solidFill>
                  <a:srgbClr val="475569"/>
                </a:solidFill>
              </a:defRPr>
            </a:pPr>
            <a:r>
              <a:t>  Giao diện (UI) hoặc Nguồn dữ liệu (Data Source) là các chi tiết ngoại vi (Details), có thể hoán đổi linh hoạt mà không làm ảnh hưởng đến lõi nghiệp vụ.</a:t>
            </a:r>
          </a:p>
        </p:txBody>
      </p:sp>
      <p:sp>
        <p:nvSpPr>
          <p:cNvPr id="6" name="Rounded Rectangle 5"/>
          <p:cNvSpPr/>
          <p:nvPr/>
        </p:nvSpPr>
        <p:spPr>
          <a:xfrm>
            <a:off x="6248095" y="1371600"/>
            <a:ext cx="5212080" cy="475488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3 LỚP KIẾN TRÚC CHUẨN TRONG FLUTTER</a:t>
            </a:r>
          </a:p>
          <a:p>
            <a:pPr>
              <a:defRPr sz="1300" b="1">
                <a:solidFill>
                  <a:srgbClr val="1D4ED8"/>
                </a:solidFill>
              </a:defRPr>
            </a:pPr>
            <a:r>
              <a:t>1. Presentation Layer (Tầng Giao Diện)</a:t>
            </a:r>
          </a:p>
          <a:p>
            <a:pPr>
              <a:defRPr sz="1050">
                <a:solidFill>
                  <a:srgbClr val="0F172A"/>
                </a:solidFill>
              </a:defRPr>
            </a:pPr>
            <a:r>
              <a:t>  • Chứa UI Widgets (MoviesPage, MovieCard, Dialogs) và State Management (MoviesBloc).</a:t>
            </a:r>
          </a:p>
          <a:p>
            <a:pPr>
              <a:defRPr sz="1050">
                <a:solidFill>
                  <a:srgbClr val="0F172A"/>
                </a:solidFill>
              </a:defRPr>
            </a:pPr>
            <a:r>
              <a:t>  • Lắng nghe tương tác của người dùng, gửi Event và lắng nghe State để vẽ giao diện.</a:t>
            </a:r>
          </a:p>
          <a:p>
            <a:pPr>
              <a:spcAft>
                <a:spcPts val="600"/>
              </a:spcAft>
              <a:defRPr sz="1050">
                <a:solidFill>
                  <a:srgbClr val="0F172A"/>
                </a:solidFill>
              </a:defRPr>
            </a:pPr>
            <a:r>
              <a:t>  • Chỉ được phép phụ thuộc vào UseCase của tầng Domain.</a:t>
            </a:r>
          </a:p>
          <a:p>
            <a:pPr>
              <a:defRPr sz="1300" b="1">
                <a:solidFill>
                  <a:srgbClr val="991B1B"/>
                </a:solidFill>
              </a:defRPr>
            </a:pPr>
            <a:r>
              <a:t>2. Domain Layer (Tầng Lõi Nghiệp Vụ - Tâm điểm)</a:t>
            </a:r>
          </a:p>
          <a:p>
            <a:pPr>
              <a:defRPr sz="1050">
                <a:solidFill>
                  <a:srgbClr val="0F172A"/>
                </a:solidFill>
              </a:defRPr>
            </a:pPr>
            <a:r>
              <a:t>  • Chứa Entities (Movie), UseCases (GetMovies) và Repository Contract (MoviesRepository).</a:t>
            </a:r>
          </a:p>
          <a:p>
            <a:pPr>
              <a:defRPr sz="1050">
                <a:solidFill>
                  <a:srgbClr val="0F172A"/>
                </a:solidFill>
              </a:defRPr>
            </a:pPr>
            <a:r>
              <a:t>  • Viết bằng Pure Dart 100%, không import bất kỳ package UI hoặc Network nào.</a:t>
            </a:r>
          </a:p>
          <a:p>
            <a:pPr>
              <a:spcAft>
                <a:spcPts val="600"/>
              </a:spcAft>
              <a:defRPr sz="1050">
                <a:solidFill>
                  <a:srgbClr val="0F172A"/>
                </a:solidFill>
              </a:defRPr>
            </a:pPr>
            <a:r>
              <a:t>  • Là trái tim bất biến của ứng dụng, quy định toàn bộ luật nghiệp vụ.</a:t>
            </a:r>
          </a:p>
          <a:p>
            <a:pPr>
              <a:defRPr sz="1300" b="1">
                <a:solidFill>
                  <a:srgbClr val="10955D"/>
                </a:solidFill>
              </a:defRPr>
            </a:pPr>
            <a:r>
              <a:t>3. Data Layer (Tầng Dữ Liệu &amp; Hạ Tầng)</a:t>
            </a:r>
          </a:p>
          <a:p>
            <a:pPr>
              <a:defRPr sz="1050">
                <a:solidFill>
                  <a:srgbClr val="0F172A"/>
                </a:solidFill>
              </a:defRPr>
            </a:pPr>
            <a:r>
              <a:t>  • Chứa Remote Data Source (gọi REST API), Model DTOs (fromJson/toJson).</a:t>
            </a:r>
          </a:p>
          <a:p>
            <a:pPr>
              <a:defRPr sz="1050">
                <a:solidFill>
                  <a:srgbClr val="0F172A"/>
                </a:solidFill>
              </a:defRPr>
            </a:pPr>
            <a:r>
              <a:t>  • Chứa MoviesRepositoryImpl thực thi giao tiếp trừu tượng của Domain (DIP).</a:t>
            </a:r>
          </a:p>
          <a:p>
            <a:pPr>
              <a:spcAft>
                <a:spcPts val="600"/>
              </a:spcAft>
              <a:defRPr sz="1050">
                <a:solidFill>
                  <a:srgbClr val="0F172A"/>
                </a:solidFill>
              </a:defRPr>
            </a:pPr>
            <a:r>
              <a:t>  • Phụ thuộc vào Domain Layer và cung cấp dữ liệu thật cho hệ thống.</a:t>
            </a:r>
          </a:p>
        </p:txBody>
      </p:sp>
      <p:sp>
        <p:nvSpPr>
          <p:cNvPr id="7" name="Rectangle 6"/>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9" name="TextBox 8"/>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4389120" cy="329184"/>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latin typeface="Segoe UI"/>
              </a:defRPr>
            </a:pPr>
            <a:r>
              <a:t>CHỦ ĐỀ 04: CLEAN ARCHITECTURE &amp; DEPENDENCY INJECTION</a:t>
            </a:r>
          </a:p>
        </p:txBody>
      </p:sp>
      <p:sp>
        <p:nvSpPr>
          <p:cNvPr id="4" name="TextBox 3"/>
          <p:cNvSpPr txBox="1"/>
          <p:nvPr/>
        </p:nvSpPr>
        <p:spPr>
          <a:xfrm>
            <a:off x="685800" y="621792"/>
            <a:ext cx="10789920" cy="640080"/>
          </a:xfrm>
          <a:prstGeom prst="rect">
            <a:avLst/>
          </a:prstGeom>
          <a:noFill/>
        </p:spPr>
        <p:txBody>
          <a:bodyPr wrap="square" lIns="0" tIns="0" rIns="0" bIns="0">
            <a:spAutoFit/>
          </a:bodyPr>
          <a:lstStyle/>
          <a:p>
            <a:pPr>
              <a:defRPr sz="2200" b="1">
                <a:solidFill>
                  <a:srgbClr val="0F172A"/>
                </a:solidFill>
                <a:latin typeface="Segoe UI"/>
              </a:defRPr>
            </a:pPr>
            <a:r>
              <a:t>3. Cấu Trúc Chi Tiết Tầng 1 — Domain Layer (Pure Dart)</a:t>
            </a:r>
          </a:p>
        </p:txBody>
      </p:sp>
      <p:sp>
        <p:nvSpPr>
          <p:cNvPr id="5" name="Rounded Rectangle 4"/>
          <p:cNvSpPr/>
          <p:nvPr/>
        </p:nvSpPr>
        <p:spPr>
          <a:xfrm>
            <a:off x="731520" y="1371600"/>
            <a:ext cx="3337560" cy="475488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THỰC THỂ (ENTITIES)</a:t>
            </a:r>
          </a:p>
          <a:p>
            <a:pPr>
              <a:spcAft>
                <a:spcPts val="800"/>
              </a:spcAft>
              <a:defRPr sz="1000" b="1">
                <a:solidFill>
                  <a:srgbClr val="1D4ED8"/>
                </a:solidFill>
              </a:defRPr>
            </a:pPr>
            <a:r>
              <a:t>Tệp: lib/features/movies/domain/entities/movie.dart</a:t>
            </a:r>
          </a:p>
          <a:p>
            <a:pPr>
              <a:defRPr sz="1150" b="1">
                <a:solidFill>
                  <a:srgbClr val="0F172A"/>
                </a:solidFill>
              </a:defRPr>
            </a:pPr>
            <a:r>
              <a:t>• Bản chất:</a:t>
            </a:r>
          </a:p>
          <a:p>
            <a:pPr>
              <a:spcAft>
                <a:spcPts val="600"/>
              </a:spcAft>
              <a:defRPr sz="1050">
                <a:solidFill>
                  <a:srgbClr val="475569"/>
                </a:solidFill>
              </a:defRPr>
            </a:pPr>
            <a:r>
              <a:t>  Đại diện cho mô hình nghiệp vụ thuần túy của ứng dụng, không chứa logic phân tích JSON hay database.</a:t>
            </a:r>
          </a:p>
          <a:p>
            <a:pPr>
              <a:defRPr sz="1150" b="1">
                <a:solidFill>
                  <a:srgbClr val="0F172A"/>
                </a:solidFill>
              </a:defRPr>
            </a:pPr>
            <a:r>
              <a:t>• Thuộc tính:</a:t>
            </a:r>
          </a:p>
          <a:p>
            <a:pPr>
              <a:spcAft>
                <a:spcPts val="600"/>
              </a:spcAft>
              <a:defRPr sz="1050">
                <a:solidFill>
                  <a:srgbClr val="475569"/>
                </a:solidFill>
              </a:defRPr>
            </a:pPr>
            <a:r>
              <a:t>  id, title, overview, posterUrl, rating, releaseDate.</a:t>
            </a:r>
          </a:p>
          <a:p>
            <a:pPr>
              <a:defRPr sz="1150" b="1">
                <a:solidFill>
                  <a:srgbClr val="0F172A"/>
                </a:solidFill>
              </a:defRPr>
            </a:pPr>
            <a:r>
              <a:t>• Tính chất Bất biến (Immutable):</a:t>
            </a:r>
          </a:p>
          <a:p>
            <a:pPr>
              <a:spcAft>
                <a:spcPts val="600"/>
              </a:spcAft>
              <a:defRPr sz="1050">
                <a:solidFill>
                  <a:srgbClr val="475569"/>
                </a:solidFill>
              </a:defRPr>
            </a:pPr>
            <a:r>
              <a:t>  Tất cả các trường đều là final, đảm bảo trạng thái dữ liệu không bị thay đổi ngầm ngoài tầm kiểm soát.</a:t>
            </a:r>
          </a:p>
          <a:p>
            <a:pPr>
              <a:defRPr sz="1150" b="1">
                <a:solidFill>
                  <a:srgbClr val="0F172A"/>
                </a:solidFill>
              </a:defRPr>
            </a:pPr>
            <a:r>
              <a:t>• Không phụ thuộc Framework:</a:t>
            </a:r>
          </a:p>
          <a:p>
            <a:pPr>
              <a:spcAft>
                <a:spcPts val="600"/>
              </a:spcAft>
              <a:defRPr sz="1050">
                <a:solidFill>
                  <a:srgbClr val="475569"/>
                </a:solidFill>
              </a:defRPr>
            </a:pPr>
            <a:r>
              <a:t>  Sử dụng Dart thuần, không import flutter/material.dart, có thể tái sử dụng cho backend Dart hoặc web.</a:t>
            </a:r>
          </a:p>
        </p:txBody>
      </p:sp>
      <p:sp>
        <p:nvSpPr>
          <p:cNvPr id="6" name="Rounded Rectangle 5"/>
          <p:cNvSpPr/>
          <p:nvPr/>
        </p:nvSpPr>
        <p:spPr>
          <a:xfrm>
            <a:off x="4425696" y="1371600"/>
            <a:ext cx="3337560" cy="4754880"/>
          </a:xfrm>
          <a:prstGeom prst="roundRect">
            <a:avLst/>
          </a:prstGeom>
          <a:solidFill>
            <a:srgbClr val="F8FAFC"/>
          </a:solidFill>
          <a:ln w="19050">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HỢP ĐỒNG (REPOSITORIES)</a:t>
            </a:r>
          </a:p>
          <a:p>
            <a:pPr>
              <a:spcAft>
                <a:spcPts val="800"/>
              </a:spcAft>
              <a:defRPr sz="1000" b="1">
                <a:solidFill>
                  <a:srgbClr val="991B1B"/>
                </a:solidFill>
              </a:defRPr>
            </a:pPr>
            <a:r>
              <a:t>Tệp: .../domain/repositories/movies_repository.dart</a:t>
            </a:r>
          </a:p>
          <a:p>
            <a:pPr>
              <a:defRPr sz="1150" b="1">
                <a:solidFill>
                  <a:srgbClr val="0F172A"/>
                </a:solidFill>
              </a:defRPr>
            </a:pPr>
            <a:r>
              <a:t>• Bản chất:</a:t>
            </a:r>
          </a:p>
          <a:p>
            <a:pPr>
              <a:spcAft>
                <a:spcPts val="600"/>
              </a:spcAft>
              <a:defRPr sz="1050">
                <a:solidFill>
                  <a:srgbClr val="475569"/>
                </a:solidFill>
              </a:defRPr>
            </a:pPr>
            <a:r>
              <a:t>  Là một Abstract Class đóng vai trò bản hợp đồng (Interface) quy định các phương thức nghiệp vụ.</a:t>
            </a:r>
          </a:p>
          <a:p>
            <a:pPr>
              <a:defRPr sz="1150" b="1">
                <a:solidFill>
                  <a:srgbClr val="0F172A"/>
                </a:solidFill>
              </a:defRPr>
            </a:pPr>
            <a:r>
              <a:t>• Định nghĩa phương thức:</a:t>
            </a:r>
          </a:p>
          <a:p>
            <a:pPr>
              <a:spcAft>
                <a:spcPts val="600"/>
              </a:spcAft>
              <a:defRPr sz="1050">
                <a:solidFill>
                  <a:srgbClr val="475569"/>
                </a:solidFill>
              </a:defRPr>
            </a:pPr>
            <a:r>
              <a:t>  abstract class MoviesRepository {</a:t>
            </a:r>
            <a:br/>
            <a:r>
              <a:t>  Future&lt;List&lt;Movie&gt;&gt; getMovies();</a:t>
            </a:r>
            <a:br/>
            <a:r>
              <a:t>}</a:t>
            </a:r>
          </a:p>
          <a:p>
            <a:pPr>
              <a:defRPr sz="1150" b="1">
                <a:solidFill>
                  <a:srgbClr val="0F172A"/>
                </a:solidFill>
              </a:defRPr>
            </a:pPr>
            <a:r>
              <a:t>• Ý nghĩa kiến trúc:</a:t>
            </a:r>
          </a:p>
          <a:p>
            <a:pPr>
              <a:spcAft>
                <a:spcPts val="600"/>
              </a:spcAft>
              <a:defRPr sz="1050">
                <a:solidFill>
                  <a:srgbClr val="475569"/>
                </a:solidFill>
              </a:defRPr>
            </a:pPr>
            <a:r>
              <a:t>  Domain chỉ đưa ra yêu cầu (CẦN lấy danh sách phim), hoàn toàn KHÔNG quan tâm dữ liệu được lấy từ REST API, Firebase hay SQLite.</a:t>
            </a:r>
          </a:p>
          <a:p>
            <a:pPr>
              <a:defRPr sz="1150" b="1">
                <a:solidFill>
                  <a:srgbClr val="0F172A"/>
                </a:solidFill>
              </a:defRPr>
            </a:pPr>
            <a:r>
              <a:t>• Phục vụ Mocking:</a:t>
            </a:r>
          </a:p>
          <a:p>
            <a:pPr>
              <a:spcAft>
                <a:spcPts val="600"/>
              </a:spcAft>
              <a:defRPr sz="1050">
                <a:solidFill>
                  <a:srgbClr val="475569"/>
                </a:solidFill>
              </a:defRPr>
            </a:pPr>
            <a:r>
              <a:t>  Nhờ Interface này, tầng Domain và Presentation có thể dễ dàng được kiểm thử với Mock Repository.</a:t>
            </a:r>
          </a:p>
        </p:txBody>
      </p:sp>
      <p:sp>
        <p:nvSpPr>
          <p:cNvPr id="7" name="Rounded Rectangle 6"/>
          <p:cNvSpPr/>
          <p:nvPr/>
        </p:nvSpPr>
        <p:spPr>
          <a:xfrm>
            <a:off x="8119872" y="1371600"/>
            <a:ext cx="3337560" cy="4754880"/>
          </a:xfrm>
          <a:prstGeom prst="roundRect">
            <a:avLst/>
          </a:prstGeom>
          <a:solidFill>
            <a:srgbClr val="F8FAFC"/>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NGHIỆP VỤ (USE CASES)</a:t>
            </a:r>
          </a:p>
          <a:p>
            <a:pPr>
              <a:spcAft>
                <a:spcPts val="800"/>
              </a:spcAft>
              <a:defRPr sz="1000" b="1">
                <a:solidFill>
                  <a:srgbClr val="10955D"/>
                </a:solidFill>
              </a:defRPr>
            </a:pPr>
            <a:r>
              <a:t>Tệp: lib/features/movies/domain/usecases/get_movies.dart</a:t>
            </a:r>
          </a:p>
          <a:p>
            <a:pPr>
              <a:defRPr sz="1150" b="1">
                <a:solidFill>
                  <a:srgbClr val="0F172A"/>
                </a:solidFill>
              </a:defRPr>
            </a:pPr>
            <a:r>
              <a:t>• Bản chất:</a:t>
            </a:r>
          </a:p>
          <a:p>
            <a:pPr>
              <a:spcAft>
                <a:spcPts val="600"/>
              </a:spcAft>
              <a:defRPr sz="1050">
                <a:solidFill>
                  <a:srgbClr val="475569"/>
                </a:solidFill>
              </a:defRPr>
            </a:pPr>
            <a:r>
              <a:t>  Mỗi UseCase đóng gói DUY NHẤT một thao tác nghiệp vụ cụ thể của người dùng (Single Responsibility Principle).</a:t>
            </a:r>
          </a:p>
          <a:p>
            <a:pPr>
              <a:defRPr sz="1150" b="1">
                <a:solidFill>
                  <a:srgbClr val="0F172A"/>
                </a:solidFill>
              </a:defRPr>
            </a:pPr>
            <a:r>
              <a:t>• Triển khai trong dự án:</a:t>
            </a:r>
          </a:p>
          <a:p>
            <a:pPr>
              <a:spcAft>
                <a:spcPts val="600"/>
              </a:spcAft>
              <a:defRPr sz="1050">
                <a:solidFill>
                  <a:srgbClr val="475569"/>
                </a:solidFill>
              </a:defRPr>
            </a:pPr>
            <a:r>
              <a:t>  class GetMovies {</a:t>
            </a:r>
            <a:br/>
            <a:r>
              <a:t>  final MoviesRepository repository;</a:t>
            </a:r>
            <a:br/>
            <a:r>
              <a:t>  Future&lt;List&lt;Movie&gt;&gt; call() {</a:t>
            </a:r>
            <a:br/>
            <a:r>
              <a:t>    return repository.getMovies();</a:t>
            </a:r>
            <a:br/>
            <a:r>
              <a:t>  }</a:t>
            </a:r>
            <a:br/>
            <a:r>
              <a:t>}</a:t>
            </a:r>
          </a:p>
          <a:p>
            <a:pPr>
              <a:defRPr sz="1150" b="1">
                <a:solidFill>
                  <a:srgbClr val="0F172A"/>
                </a:solidFill>
              </a:defRPr>
            </a:pPr>
            <a:r>
              <a:t>• Constructor Injection:</a:t>
            </a:r>
          </a:p>
          <a:p>
            <a:pPr>
              <a:spcAft>
                <a:spcPts val="600"/>
              </a:spcAft>
              <a:defRPr sz="1050">
                <a:solidFill>
                  <a:srgbClr val="475569"/>
                </a:solidFill>
              </a:defRPr>
            </a:pPr>
            <a:r>
              <a:t>  Nhận MoviesRepository qua constructor, giúp loại bỏ khớp nối cứng.</a:t>
            </a:r>
          </a:p>
          <a:p>
            <a:pPr>
              <a:defRPr sz="1150" b="1">
                <a:solidFill>
                  <a:srgbClr val="0F172A"/>
                </a:solidFill>
              </a:defRPr>
            </a:pPr>
            <a:r>
              <a:t>• Khả năng tái sử dụng:</a:t>
            </a:r>
          </a:p>
          <a:p>
            <a:pPr>
              <a:spcAft>
                <a:spcPts val="600"/>
              </a:spcAft>
              <a:defRPr sz="1050">
                <a:solidFill>
                  <a:srgbClr val="475569"/>
                </a:solidFill>
              </a:defRPr>
            </a:pPr>
            <a:r>
              <a:t>  Nhiều ViewModel/BLoC khác nhau có thể cùng gọi chung một UseCase mà không bị lặp mã nguồn.</a:t>
            </a:r>
          </a:p>
        </p:txBody>
      </p:sp>
      <p:sp>
        <p:nvSpPr>
          <p:cNvPr id="8" name="Rectangle 7"/>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10" name="TextBox 9"/>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4389120" cy="329184"/>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latin typeface="Segoe UI"/>
              </a:defRPr>
            </a:pPr>
            <a:r>
              <a:t>CHỦ ĐỀ 04: CLEAN ARCHITECTURE &amp; DEPENDENCY INJECTION</a:t>
            </a:r>
          </a:p>
        </p:txBody>
      </p:sp>
      <p:sp>
        <p:nvSpPr>
          <p:cNvPr id="4" name="TextBox 3"/>
          <p:cNvSpPr txBox="1"/>
          <p:nvPr/>
        </p:nvSpPr>
        <p:spPr>
          <a:xfrm>
            <a:off x="685800" y="621792"/>
            <a:ext cx="10789920" cy="640080"/>
          </a:xfrm>
          <a:prstGeom prst="rect">
            <a:avLst/>
          </a:prstGeom>
          <a:noFill/>
        </p:spPr>
        <p:txBody>
          <a:bodyPr wrap="square" lIns="0" tIns="0" rIns="0" bIns="0">
            <a:spAutoFit/>
          </a:bodyPr>
          <a:lstStyle/>
          <a:p>
            <a:pPr>
              <a:defRPr sz="2200" b="1">
                <a:solidFill>
                  <a:srgbClr val="0F172A"/>
                </a:solidFill>
                <a:latin typeface="Segoe UI"/>
              </a:defRPr>
            </a:pPr>
            <a:r>
              <a:t>4. Cấu Trúc Chi Tiết Tầng 2 — Data Layer (REST API &amp; DTOs)</a:t>
            </a:r>
          </a:p>
        </p:txBody>
      </p:sp>
      <p:sp>
        <p:nvSpPr>
          <p:cNvPr id="5" name="Rounded Rectangle 4"/>
          <p:cNvSpPr/>
          <p:nvPr/>
        </p:nvSpPr>
        <p:spPr>
          <a:xfrm>
            <a:off x="731520" y="1371600"/>
            <a:ext cx="3337560" cy="475488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NGUỒN DỮ LIỆU (DATA SOURCES)</a:t>
            </a:r>
          </a:p>
          <a:p>
            <a:pPr>
              <a:spcAft>
                <a:spcPts val="800"/>
              </a:spcAft>
              <a:defRPr sz="1000" b="1">
                <a:solidFill>
                  <a:srgbClr val="1D4ED8"/>
                </a:solidFill>
              </a:defRPr>
            </a:pPr>
            <a:r>
              <a:t>Tệp: .../datasources/movies_remote_data_source.dart</a:t>
            </a:r>
          </a:p>
          <a:p>
            <a:pPr>
              <a:defRPr sz="1150" b="1">
                <a:solidFill>
                  <a:srgbClr val="0F172A"/>
                </a:solidFill>
              </a:defRPr>
            </a:pPr>
            <a:r>
              <a:t>• Nhiệm vụ:</a:t>
            </a:r>
          </a:p>
          <a:p>
            <a:pPr>
              <a:spcAft>
                <a:spcPts val="600"/>
              </a:spcAft>
              <a:defRPr sz="1050">
                <a:solidFill>
                  <a:srgbClr val="475569"/>
                </a:solidFill>
              </a:defRPr>
            </a:pPr>
            <a:r>
              <a:t>  Trực tiếp tương tác với REST API thông qua http.Client của Flutter.</a:t>
            </a:r>
          </a:p>
          <a:p>
            <a:pPr>
              <a:defRPr sz="1150" b="1">
                <a:solidFill>
                  <a:srgbClr val="0F172A"/>
                </a:solidFill>
              </a:defRPr>
            </a:pPr>
            <a:r>
              <a:t>• Endpoint REST API thật:</a:t>
            </a:r>
          </a:p>
          <a:p>
            <a:pPr>
              <a:spcAft>
                <a:spcPts val="600"/>
              </a:spcAft>
              <a:defRPr sz="1050">
                <a:solidFill>
                  <a:srgbClr val="475569"/>
                </a:solidFill>
              </a:defRPr>
            </a:pPr>
            <a:r>
              <a:t>  Kết nối trực tiếp tới máy chủ dữ liệu phim GitHub Raw JSON (24 phim chiếu rạp với đầy đủ poster, rating, diễn viên).</a:t>
            </a:r>
          </a:p>
          <a:p>
            <a:pPr>
              <a:defRPr sz="1150" b="1">
                <a:solidFill>
                  <a:srgbClr val="0F172A"/>
                </a:solidFill>
              </a:defRPr>
            </a:pPr>
            <a:r>
              <a:t>• Xử lý ngoại lệ mạng:</a:t>
            </a:r>
          </a:p>
          <a:p>
            <a:pPr>
              <a:spcAft>
                <a:spcPts val="600"/>
              </a:spcAft>
              <a:defRPr sz="1050">
                <a:solidFill>
                  <a:srgbClr val="475569"/>
                </a:solidFill>
              </a:defRPr>
            </a:pPr>
            <a:r>
              <a:t>  Kiểm tra HTTP Status Code: nếu == 200 thì giải mã JSON; nếu thất bại hoặc mất mạng sẽ ném ra ServerException().</a:t>
            </a:r>
          </a:p>
          <a:p>
            <a:pPr>
              <a:defRPr sz="1150" b="1">
                <a:solidFill>
                  <a:srgbClr val="0F172A"/>
                </a:solidFill>
              </a:defRPr>
            </a:pPr>
            <a:r>
              <a:t>• Decoupling HTTP Client:</a:t>
            </a:r>
          </a:p>
          <a:p>
            <a:pPr>
              <a:spcAft>
                <a:spcPts val="600"/>
              </a:spcAft>
              <a:defRPr sz="1050">
                <a:solidFill>
                  <a:srgbClr val="475569"/>
                </a:solidFill>
              </a:defRPr>
            </a:pPr>
            <a:r>
              <a:t>  Nhận http.Client qua hàm tạo, cho phép mock request khi viết Unit Test.</a:t>
            </a:r>
          </a:p>
        </p:txBody>
      </p:sp>
      <p:sp>
        <p:nvSpPr>
          <p:cNvPr id="6" name="Rounded Rectangle 5"/>
          <p:cNvSpPr/>
          <p:nvPr/>
        </p:nvSpPr>
        <p:spPr>
          <a:xfrm>
            <a:off x="4425696" y="1371600"/>
            <a:ext cx="3337560" cy="475488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MÔ HÌNH DỮ LIỆU (MODELS / DTO)</a:t>
            </a:r>
          </a:p>
          <a:p>
            <a:pPr>
              <a:spcAft>
                <a:spcPts val="800"/>
              </a:spcAft>
              <a:defRPr sz="1000" b="1">
                <a:solidFill>
                  <a:srgbClr val="D97706"/>
                </a:solidFill>
              </a:defRPr>
            </a:pPr>
            <a:r>
              <a:t>Tệp: lib/features/movies/data/models/movie_model.dart</a:t>
            </a:r>
          </a:p>
          <a:p>
            <a:pPr>
              <a:defRPr sz="1150" b="1">
                <a:solidFill>
                  <a:srgbClr val="0F172A"/>
                </a:solidFill>
              </a:defRPr>
            </a:pPr>
            <a:r>
              <a:t>• Kế thừa từ Entity:</a:t>
            </a:r>
          </a:p>
          <a:p>
            <a:pPr>
              <a:spcAft>
                <a:spcPts val="600"/>
              </a:spcAft>
              <a:defRPr sz="1050">
                <a:solidFill>
                  <a:srgbClr val="475569"/>
                </a:solidFill>
              </a:defRPr>
            </a:pPr>
            <a:r>
              <a:t>  class MovieModel extends Movie. Là Data Transfer Object (DTO) mở rộng từ Entity của Domain.</a:t>
            </a:r>
          </a:p>
          <a:p>
            <a:pPr>
              <a:defRPr sz="1150" b="1">
                <a:solidFill>
                  <a:srgbClr val="0F172A"/>
                </a:solidFill>
              </a:defRPr>
            </a:pPr>
            <a:r>
              <a:t>• Phương thức fromJson():</a:t>
            </a:r>
          </a:p>
          <a:p>
            <a:pPr>
              <a:spcAft>
                <a:spcPts val="600"/>
              </a:spcAft>
              <a:defRPr sz="1050">
                <a:solidFill>
                  <a:srgbClr val="475569"/>
                </a:solidFill>
              </a:defRPr>
            </a:pPr>
            <a:r>
              <a:t>  Phân tích cú pháp JSON an toàn. Xử lý các trường hợp dữ liệu phong phú (posterurl / poster, rating chuỗi hoặc số thực).</a:t>
            </a:r>
          </a:p>
          <a:p>
            <a:pPr>
              <a:defRPr sz="1150" b="1">
                <a:solidFill>
                  <a:srgbClr val="0F172A"/>
                </a:solidFill>
              </a:defRPr>
            </a:pPr>
            <a:r>
              <a:t>• Phương thức toJson():</a:t>
            </a:r>
          </a:p>
          <a:p>
            <a:pPr>
              <a:spcAft>
                <a:spcPts val="600"/>
              </a:spcAft>
              <a:defRPr sz="1050">
                <a:solidFill>
                  <a:srgbClr val="475569"/>
                </a:solidFill>
              </a:defRPr>
            </a:pPr>
            <a:r>
              <a:t>  Chuyển đổi ngược từ Object thành Map JSON phục vụ lưu trữ đệm hoặc gửi request.</a:t>
            </a:r>
          </a:p>
          <a:p>
            <a:pPr>
              <a:defRPr sz="1150" b="1">
                <a:solidFill>
                  <a:srgbClr val="0F172A"/>
                </a:solidFill>
              </a:defRPr>
            </a:pPr>
            <a:r>
              <a:t>• Bảo vệ tầng Domain:</a:t>
            </a:r>
          </a:p>
          <a:p>
            <a:pPr>
              <a:spcAft>
                <a:spcPts val="600"/>
              </a:spcAft>
              <a:defRPr sz="1050">
                <a:solidFill>
                  <a:srgbClr val="475569"/>
                </a:solidFill>
              </a:defRPr>
            </a:pPr>
            <a:r>
              <a:t>  Giữ cho Domain không bị ảnh hưởng khi cấu trúc JSON của API máy chủ thay đổi tên trường.</a:t>
            </a:r>
          </a:p>
        </p:txBody>
      </p:sp>
      <p:sp>
        <p:nvSpPr>
          <p:cNvPr id="7" name="Rounded Rectangle 6"/>
          <p:cNvSpPr/>
          <p:nvPr/>
        </p:nvSpPr>
        <p:spPr>
          <a:xfrm>
            <a:off x="8119872" y="1371600"/>
            <a:ext cx="3337560" cy="4754880"/>
          </a:xfrm>
          <a:prstGeom prst="roundRect">
            <a:avLst/>
          </a:prstGeom>
          <a:solidFill>
            <a:srgbClr val="F8FAFC"/>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HIỆN THỰC REPOSITORY (IMPL)</a:t>
            </a:r>
          </a:p>
          <a:p>
            <a:pPr>
              <a:spcAft>
                <a:spcPts val="800"/>
              </a:spcAft>
              <a:defRPr sz="1000" b="1">
                <a:solidFill>
                  <a:srgbClr val="10955D"/>
                </a:solidFill>
              </a:defRPr>
            </a:pPr>
            <a:r>
              <a:t>Tệp: .../repositories/movies_repository_impl.dart</a:t>
            </a:r>
          </a:p>
          <a:p>
            <a:pPr>
              <a:defRPr sz="1150" b="1">
                <a:solidFill>
                  <a:srgbClr val="0F172A"/>
                </a:solidFill>
              </a:defRPr>
            </a:pPr>
            <a:r>
              <a:t>• Áp dụng DIP:</a:t>
            </a:r>
          </a:p>
          <a:p>
            <a:pPr>
              <a:spcAft>
                <a:spcPts val="600"/>
              </a:spcAft>
              <a:defRPr sz="1050">
                <a:solidFill>
                  <a:srgbClr val="475569"/>
                </a:solidFill>
              </a:defRPr>
            </a:pPr>
            <a:r>
              <a:t>  class MoviesRepositoryImpl implements MoviesRepository. Hiện thực hợp đồng do tầng Domain đặt ra.</a:t>
            </a:r>
          </a:p>
          <a:p>
            <a:pPr>
              <a:defRPr sz="1150" b="1">
                <a:solidFill>
                  <a:srgbClr val="0F172A"/>
                </a:solidFill>
              </a:defRPr>
            </a:pPr>
            <a:r>
              <a:t>• Điều phối dữ liệu:</a:t>
            </a:r>
          </a:p>
          <a:p>
            <a:pPr>
              <a:spcAft>
                <a:spcPts val="600"/>
              </a:spcAft>
              <a:defRPr sz="1050">
                <a:solidFill>
                  <a:srgbClr val="475569"/>
                </a:solidFill>
              </a:defRPr>
            </a:pPr>
            <a:r>
              <a:t>  Gọi MoviesRemoteDataSource để lấy danh sách MovieModel, sau đó trả về dưới dạng List&lt;Movie&gt; (Entity).</a:t>
            </a:r>
          </a:p>
          <a:p>
            <a:pPr>
              <a:defRPr sz="1150" b="1">
                <a:solidFill>
                  <a:srgbClr val="0F172A"/>
                </a:solidFill>
              </a:defRPr>
            </a:pPr>
            <a:r>
              <a:t>• Xử lý lỗi tập trung:</a:t>
            </a:r>
          </a:p>
          <a:p>
            <a:pPr>
              <a:spcAft>
                <a:spcPts val="600"/>
              </a:spcAft>
              <a:defRPr sz="1050">
                <a:solidFill>
                  <a:srgbClr val="475569"/>
                </a:solidFill>
              </a:defRPr>
            </a:pPr>
            <a:r>
              <a:t>  Bắt các ngoại lệ kỹ thuật (SocketException, ServerException) và chuyển hóa thành thông điệp nghiệp vụ sạch sẽ.</a:t>
            </a:r>
          </a:p>
          <a:p>
            <a:pPr>
              <a:defRPr sz="1150" b="1">
                <a:solidFill>
                  <a:srgbClr val="0F172A"/>
                </a:solidFill>
              </a:defRPr>
            </a:pPr>
            <a:r>
              <a:t>• Tính sẵn sàng cho Caching:</a:t>
            </a:r>
          </a:p>
          <a:p>
            <a:pPr>
              <a:spcAft>
                <a:spcPts val="600"/>
              </a:spcAft>
              <a:defRPr sz="1050">
                <a:solidFill>
                  <a:srgbClr val="475569"/>
                </a:solidFill>
              </a:defRPr>
            </a:pPr>
            <a:r>
              <a:t>  Dễ dàng bổ sung LocalDataSource (Hive/SQLite) để kiểm tra bộ nhớ đệm trước khi gọi API.</a:t>
            </a:r>
          </a:p>
        </p:txBody>
      </p:sp>
      <p:sp>
        <p:nvSpPr>
          <p:cNvPr id="8" name="Rectangle 7"/>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10" name="TextBox 9"/>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4389120" cy="329184"/>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latin typeface="Segoe UI"/>
              </a:defRPr>
            </a:pPr>
            <a:r>
              <a:t>CHỦ ĐỀ 04: CLEAN ARCHITECTURE &amp; DEPENDENCY INJECTION</a:t>
            </a:r>
          </a:p>
        </p:txBody>
      </p:sp>
      <p:sp>
        <p:nvSpPr>
          <p:cNvPr id="4" name="TextBox 3"/>
          <p:cNvSpPr txBox="1"/>
          <p:nvPr/>
        </p:nvSpPr>
        <p:spPr>
          <a:xfrm>
            <a:off x="685800" y="621792"/>
            <a:ext cx="10789920" cy="640080"/>
          </a:xfrm>
          <a:prstGeom prst="rect">
            <a:avLst/>
          </a:prstGeom>
          <a:noFill/>
        </p:spPr>
        <p:txBody>
          <a:bodyPr wrap="square" lIns="0" tIns="0" rIns="0" bIns="0">
            <a:spAutoFit/>
          </a:bodyPr>
          <a:lstStyle/>
          <a:p>
            <a:pPr>
              <a:defRPr sz="2200" b="1">
                <a:solidFill>
                  <a:srgbClr val="0F172A"/>
                </a:solidFill>
                <a:latin typeface="Segoe UI"/>
              </a:defRPr>
            </a:pPr>
            <a:r>
              <a:t>5. Cấu Trúc Chi Tiết Tầng 3 — Presentation Layer (BLoC &amp; UI)</a:t>
            </a:r>
          </a:p>
        </p:txBody>
      </p:sp>
      <p:sp>
        <p:nvSpPr>
          <p:cNvPr id="5" name="Rounded Rectangle 4"/>
          <p:cNvSpPr/>
          <p:nvPr/>
        </p:nvSpPr>
        <p:spPr>
          <a:xfrm>
            <a:off x="731520" y="1371600"/>
            <a:ext cx="5212080" cy="475488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QUẢN LÝ TRẠNG THÁI (BLoC PATTERN)</a:t>
            </a:r>
          </a:p>
          <a:p>
            <a:pPr>
              <a:spcAft>
                <a:spcPts val="800"/>
              </a:spcAft>
              <a:defRPr sz="1000" b="1">
                <a:solidFill>
                  <a:srgbClr val="1D4ED8"/>
                </a:solidFill>
              </a:defRPr>
            </a:pPr>
            <a:r>
              <a:t>Tệp: lib/features/movies/presentation/bloc/movies_bloc.dart</a:t>
            </a:r>
          </a:p>
          <a:p>
            <a:pPr>
              <a:defRPr sz="1200" b="1">
                <a:solidFill>
                  <a:srgbClr val="0F172A"/>
                </a:solidFill>
              </a:defRPr>
            </a:pPr>
            <a:r>
              <a:t>• Cơ chế phân tách:</a:t>
            </a:r>
          </a:p>
          <a:p>
            <a:pPr>
              <a:spcAft>
                <a:spcPts val="600"/>
              </a:spcAft>
              <a:defRPr sz="1050">
                <a:solidFill>
                  <a:srgbClr val="475569"/>
                </a:solidFill>
              </a:defRPr>
            </a:pPr>
            <a:r>
              <a:t>  Tách biệt 100% logic điều khiển và giao diện UI theo mô hình Stream/Reactive.</a:t>
            </a:r>
          </a:p>
          <a:p>
            <a:pPr>
              <a:defRPr sz="1200" b="1">
                <a:solidFill>
                  <a:srgbClr val="0F172A"/>
                </a:solidFill>
              </a:defRPr>
            </a:pPr>
            <a:r>
              <a:t>• Sự kiện (Events):</a:t>
            </a:r>
          </a:p>
          <a:p>
            <a:pPr>
              <a:spcAft>
                <a:spcPts val="600"/>
              </a:spcAft>
              <a:defRPr sz="1050">
                <a:solidFill>
                  <a:srgbClr val="475569"/>
                </a:solidFill>
              </a:defRPr>
            </a:pPr>
            <a:r>
              <a:t>  MoviesRequested — phát ra khi màn hình khởi tạo hoặc khi người dùng nhấn nút 'Thử lại'.</a:t>
            </a:r>
          </a:p>
          <a:p>
            <a:pPr>
              <a:defRPr sz="1200" b="1">
                <a:solidFill>
                  <a:srgbClr val="0F172A"/>
                </a:solidFill>
              </a:defRPr>
            </a:pPr>
            <a:r>
              <a:t>• Trạng thái (States):</a:t>
            </a:r>
          </a:p>
          <a:p>
            <a:pPr>
              <a:spcAft>
                <a:spcPts val="600"/>
              </a:spcAft>
              <a:defRPr sz="1050">
                <a:solidFill>
                  <a:srgbClr val="475569"/>
                </a:solidFill>
              </a:defRPr>
            </a:pPr>
            <a:r>
              <a:t>  • MoviesInitial: Trạng thái ban đầu.</a:t>
            </a:r>
            <a:br/>
            <a:r>
              <a:t>• MoviesLoading: Đang chờ phản hồi từ mạng.</a:t>
            </a:r>
            <a:br/>
            <a:r>
              <a:t>• MoviesSuccess(movies): Tải thành công danh sách phim.</a:t>
            </a:r>
            <a:br/>
            <a:r>
              <a:t>• MoviesFailure(message): Xảy ra sự cố mạng kèm thông báo.</a:t>
            </a:r>
          </a:p>
          <a:p>
            <a:pPr>
              <a:defRPr sz="1200" b="1">
                <a:solidFill>
                  <a:srgbClr val="0F172A"/>
                </a:solidFill>
              </a:defRPr>
            </a:pPr>
            <a:r>
              <a:t>• Luồng xử lý BLoC:</a:t>
            </a:r>
          </a:p>
          <a:p>
            <a:pPr>
              <a:spcAft>
                <a:spcPts val="600"/>
              </a:spcAft>
              <a:defRPr sz="1050">
                <a:solidFill>
                  <a:srgbClr val="475569"/>
                </a:solidFill>
              </a:defRPr>
            </a:pPr>
            <a:r>
              <a:t>  Nhận MoviesRequested → emit(MoviesLoading) → gọi UseCase getMovies() → emit(MoviesSuccess) hoặc emit(MoviesFailure).</a:t>
            </a:r>
          </a:p>
        </p:txBody>
      </p:sp>
      <p:sp>
        <p:nvSpPr>
          <p:cNvPr id="6" name="Rounded Rectangle 5"/>
          <p:cNvSpPr/>
          <p:nvPr/>
        </p:nvSpPr>
        <p:spPr>
          <a:xfrm>
            <a:off x="6248095" y="1371600"/>
            <a:ext cx="5212080" cy="4754880"/>
          </a:xfrm>
          <a:prstGeom prst="roundRect">
            <a:avLst/>
          </a:prstGeom>
          <a:solidFill>
            <a:srgbClr val="F8FAFC"/>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THIẾT KẾ GIAO DIỆN SÁNG (LIGHT THEME) &amp; XỬ LÝ LỖI</a:t>
            </a:r>
          </a:p>
          <a:p>
            <a:pPr>
              <a:spcAft>
                <a:spcPts val="800"/>
              </a:spcAft>
              <a:defRPr sz="1000" b="1">
                <a:solidFill>
                  <a:srgbClr val="10955D"/>
                </a:solidFill>
              </a:defRPr>
            </a:pPr>
            <a:r>
              <a:t>Tệp: lib/features/movies/presentation/pages/movies_page.dart</a:t>
            </a:r>
          </a:p>
          <a:p>
            <a:pPr>
              <a:defRPr sz="1200" b="1">
                <a:solidFill>
                  <a:srgbClr val="0F172A"/>
                </a:solidFill>
              </a:defRPr>
            </a:pPr>
            <a:r>
              <a:t>• Thương hiệu PhePhim (Light Theme):</a:t>
            </a:r>
          </a:p>
          <a:p>
            <a:pPr>
              <a:spcAft>
                <a:spcPts val="600"/>
              </a:spcAft>
              <a:defRPr sz="1050">
                <a:solidFill>
                  <a:srgbClr val="475569"/>
                </a:solidFill>
              </a:defRPr>
            </a:pPr>
            <a:r>
              <a:t>  Sử dụng tông màu sáng chủ đạo thanh lịch, nền trắng sữa, AppBar nổi bật, card phim bo góc mềm mại kèm hiệu ứng đổ bóng tinh tế.</a:t>
            </a:r>
          </a:p>
          <a:p>
            <a:pPr>
              <a:defRPr sz="1200" b="1">
                <a:solidFill>
                  <a:srgbClr val="0F172A"/>
                </a:solidFill>
              </a:defRPr>
            </a:pPr>
            <a:r>
              <a:t>• Trình bày trực quan:</a:t>
            </a:r>
          </a:p>
          <a:p>
            <a:pPr>
              <a:spcAft>
                <a:spcPts val="600"/>
              </a:spcAft>
              <a:defRPr sz="1050">
                <a:solidFill>
                  <a:srgbClr val="475569"/>
                </a:solidFill>
              </a:defRPr>
            </a:pPr>
            <a:r>
              <a:t>  Hiển thị poster chất lượng cao (Amazon CDN), badge điểm IMDb màu vàng sang trọng, năm phát hành và tóm tắt cốt truyện ngắn gọn.</a:t>
            </a:r>
          </a:p>
          <a:p>
            <a:pPr>
              <a:defRPr sz="1200" b="1">
                <a:solidFill>
                  <a:srgbClr val="0F172A"/>
                </a:solidFill>
              </a:defRPr>
            </a:pPr>
            <a:r>
              <a:t>• Xử lý lỗi mất mạng (Error Recovery):</a:t>
            </a:r>
          </a:p>
          <a:p>
            <a:pPr>
              <a:spcAft>
                <a:spcPts val="600"/>
              </a:spcAft>
              <a:defRPr sz="1050">
                <a:solidFill>
                  <a:srgbClr val="475569"/>
                </a:solidFill>
              </a:defRPr>
            </a:pPr>
            <a:r>
              <a:t>  Khi ngắt mạng, UI không bị crash mà hiển thị màn hình báo lỗi chuyên nghiệp với Icon cảnh báo và nút 'Thử lại' (Retry) để người dùng tải lại khi có mạng.</a:t>
            </a:r>
          </a:p>
          <a:p>
            <a:pPr>
              <a:defRPr sz="1200" b="1">
                <a:solidFill>
                  <a:srgbClr val="0F172A"/>
                </a:solidFill>
              </a:defRPr>
            </a:pPr>
            <a:r>
              <a:t>• Hộp thoại kiến trúc (Architecture Dialog):</a:t>
            </a:r>
          </a:p>
          <a:p>
            <a:pPr>
              <a:spcAft>
                <a:spcPts val="600"/>
              </a:spcAft>
              <a:defRPr sz="1050">
                <a:solidFill>
                  <a:srgbClr val="475569"/>
                </a:solidFill>
              </a:defRPr>
            </a:pPr>
            <a:r>
              <a:t>  Tích hợp sẵn Dialog giải thích cấu trúc 3 tầng Clean Architecture ngay trên AppBar giúp giảng viên dễ dàng kiểm tra trực tiếp.</a:t>
            </a:r>
          </a:p>
        </p:txBody>
      </p:sp>
      <p:sp>
        <p:nvSpPr>
          <p:cNvPr id="7" name="Rectangle 6"/>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9" name="TextBox 8"/>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4389120" cy="329184"/>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latin typeface="Segoe UI"/>
              </a:defRPr>
            </a:pPr>
            <a:r>
              <a:t>CHỦ ĐỀ 04: CLEAN ARCHITECTURE &amp; DEPENDENCY INJECTION</a:t>
            </a:r>
          </a:p>
        </p:txBody>
      </p:sp>
      <p:sp>
        <p:nvSpPr>
          <p:cNvPr id="4" name="TextBox 3"/>
          <p:cNvSpPr txBox="1"/>
          <p:nvPr/>
        </p:nvSpPr>
        <p:spPr>
          <a:xfrm>
            <a:off x="685800" y="621792"/>
            <a:ext cx="10789920" cy="640080"/>
          </a:xfrm>
          <a:prstGeom prst="rect">
            <a:avLst/>
          </a:prstGeom>
          <a:noFill/>
        </p:spPr>
        <p:txBody>
          <a:bodyPr wrap="square" lIns="0" tIns="0" rIns="0" bIns="0">
            <a:spAutoFit/>
          </a:bodyPr>
          <a:lstStyle/>
          <a:p>
            <a:pPr>
              <a:defRPr sz="2200" b="1">
                <a:solidFill>
                  <a:srgbClr val="0F172A"/>
                </a:solidFill>
                <a:latin typeface="Segoe UI"/>
              </a:defRPr>
            </a:pPr>
            <a:r>
              <a:t>6. Nguyên Lý Đảo Ngược Phụ Thuộc (DIP) &amp; Repository Pattern</a:t>
            </a:r>
          </a:p>
        </p:txBody>
      </p:sp>
      <p:sp>
        <p:nvSpPr>
          <p:cNvPr id="5" name="Rounded Rectangle 4"/>
          <p:cNvSpPr/>
          <p:nvPr/>
        </p:nvSpPr>
        <p:spPr>
          <a:xfrm>
            <a:off x="731520" y="1371600"/>
            <a:ext cx="10728655" cy="146304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BẢN CHẤT CỦA NGUYÊN LÝ DEPENDENCY INVERSION (CHỮ 'D' TRONG SOLID)</a:t>
            </a:r>
          </a:p>
          <a:p>
            <a:pPr>
              <a:spcAft>
                <a:spcPts val="400"/>
              </a:spcAft>
              <a:defRPr sz="1200">
                <a:solidFill>
                  <a:srgbClr val="0F172A"/>
                </a:solidFill>
              </a:defRPr>
            </a:pPr>
            <a:r>
              <a:t>1. Các module cấp cao (Domain) không được phụ thuộc vào các module cấp thấp (Data / REST API). Cả hai đều phải phụ thuộc vào lớp trừu tượng (Abstractions).</a:t>
            </a:r>
            <a:br/>
            <a:r>
              <a:t>2. Lớp trừu tượng không được phụ thuộc vào chi tiết cài đặt. Chi tiết cài đặt phải phụ thuộc vào lớp trừu tượng.</a:t>
            </a:r>
          </a:p>
        </p:txBody>
      </p:sp>
      <p:sp>
        <p:nvSpPr>
          <p:cNvPr id="6" name="Rounded Rectangle 5"/>
          <p:cNvSpPr/>
          <p:nvPr/>
        </p:nvSpPr>
        <p:spPr>
          <a:xfrm>
            <a:off x="731520" y="3017520"/>
            <a:ext cx="5212080" cy="3108960"/>
          </a:xfrm>
          <a:prstGeom prst="roundRect">
            <a:avLst/>
          </a:prstGeom>
          <a:solidFill>
            <a:srgbClr val="F8FAFC"/>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MÔ HÌNH TRUYỀN THỐNG (KHỚP NỐI CHẶT)</a:t>
            </a:r>
          </a:p>
          <a:p>
            <a:pPr>
              <a:defRPr sz="1150" b="1">
                <a:solidFill>
                  <a:srgbClr val="E11D48"/>
                </a:solidFill>
              </a:defRPr>
            </a:pPr>
            <a:r>
              <a:t>✘ Luồng phụ thuộc trực tiếp:</a:t>
            </a:r>
          </a:p>
          <a:p>
            <a:pPr>
              <a:spcAft>
                <a:spcPts val="400"/>
              </a:spcAft>
              <a:defRPr sz="1050">
                <a:solidFill>
                  <a:srgbClr val="475569"/>
                </a:solidFill>
              </a:defRPr>
            </a:pPr>
            <a:r>
              <a:t>   UI / BLoC ──▶ Service Nghiệp vụ ──▶ REST API (HTTP)</a:t>
            </a:r>
          </a:p>
          <a:p>
            <a:pPr>
              <a:defRPr sz="1150" b="1">
                <a:solidFill>
                  <a:srgbClr val="E11D48"/>
                </a:solidFill>
              </a:defRPr>
            </a:pPr>
            <a:r>
              <a:t>✘ Hạn chế nghiêm trọng:</a:t>
            </a:r>
          </a:p>
          <a:p>
            <a:pPr>
              <a:spcAft>
                <a:spcPts val="400"/>
              </a:spcAft>
              <a:defRPr sz="1050">
                <a:solidFill>
                  <a:srgbClr val="475569"/>
                </a:solidFill>
              </a:defRPr>
            </a:pPr>
            <a:r>
              <a:t>   Module cấp cao phụ thuộc cứng vào thư viện mạng (http/dio).</a:t>
            </a:r>
          </a:p>
          <a:p>
            <a:pPr>
              <a:defRPr sz="1150" b="1">
                <a:solidFill>
                  <a:srgbClr val="E11D48"/>
                </a:solidFill>
              </a:defRPr>
            </a:pPr>
            <a:r>
              <a:t>✘ Khó kiểm thử (Untestable):</a:t>
            </a:r>
          </a:p>
          <a:p>
            <a:pPr>
              <a:spcAft>
                <a:spcPts val="400"/>
              </a:spcAft>
              <a:defRPr sz="1050">
                <a:solidFill>
                  <a:srgbClr val="475569"/>
                </a:solidFill>
              </a:defRPr>
            </a:pPr>
            <a:r>
              <a:t>   Muốn test logic nghiệp vụ buộc phải chạy API thật hoặc khởi chạy môi trường mạng.</a:t>
            </a:r>
          </a:p>
          <a:p>
            <a:pPr>
              <a:defRPr sz="1150" b="1">
                <a:solidFill>
                  <a:srgbClr val="E11D48"/>
                </a:solidFill>
              </a:defRPr>
            </a:pPr>
            <a:r>
              <a:t>✘ Nguy cơ phá vỡ hệ thống:</a:t>
            </a:r>
          </a:p>
          <a:p>
            <a:pPr>
              <a:spcAft>
                <a:spcPts val="400"/>
              </a:spcAft>
              <a:defRPr sz="1050">
                <a:solidFill>
                  <a:srgbClr val="475569"/>
                </a:solidFill>
              </a:defRPr>
            </a:pPr>
            <a:r>
              <a:t>   Khi đổi máy chủ hoặc đổi sang lưu trữ Offline, toàn bộ code nghiệp vụ phải viết lại.</a:t>
            </a:r>
          </a:p>
        </p:txBody>
      </p:sp>
      <p:sp>
        <p:nvSpPr>
          <p:cNvPr id="7" name="Rounded Rectangle 6"/>
          <p:cNvSpPr/>
          <p:nvPr/>
        </p:nvSpPr>
        <p:spPr>
          <a:xfrm>
            <a:off x="6248095" y="3017520"/>
            <a:ext cx="5212080" cy="3108960"/>
          </a:xfrm>
          <a:prstGeom prst="roundRect">
            <a:avLst/>
          </a:prstGeom>
          <a:solidFill>
            <a:srgbClr val="F0FDF4"/>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CLEAN ARCHITECTURE DIP (KHỚP NỐI LỎNG)</a:t>
            </a:r>
          </a:p>
          <a:p>
            <a:pPr>
              <a:defRPr sz="1150" b="1">
                <a:solidFill>
                  <a:srgbClr val="10955D"/>
                </a:solidFill>
              </a:defRPr>
            </a:pPr>
            <a:r>
              <a:t>✔ Mũi tên phụ thuộc bị đảo ngược:</a:t>
            </a:r>
          </a:p>
          <a:p>
            <a:pPr>
              <a:spcAft>
                <a:spcPts val="400"/>
              </a:spcAft>
              <a:defRPr sz="1050">
                <a:solidFill>
                  <a:srgbClr val="0F172A"/>
                </a:solidFill>
              </a:defRPr>
            </a:pPr>
            <a:r>
              <a:t>   Presentation ──▶ UseCase ──▶ [MoviesRepository] ◀── Impl (Data)</a:t>
            </a:r>
          </a:p>
          <a:p>
            <a:pPr>
              <a:defRPr sz="1150" b="1">
                <a:solidFill>
                  <a:srgbClr val="10955D"/>
                </a:solidFill>
              </a:defRPr>
            </a:pPr>
            <a:r>
              <a:t>✔ Bức tường trừu tượng (Barrier):</a:t>
            </a:r>
          </a:p>
          <a:p>
            <a:pPr>
              <a:spcAft>
                <a:spcPts val="400"/>
              </a:spcAft>
              <a:defRPr sz="1050">
                <a:solidFill>
                  <a:srgbClr val="0F172A"/>
                </a:solidFill>
              </a:defRPr>
            </a:pPr>
            <a:r>
              <a:t>   Domain làm chủ hợp đồng MoviesRepository. Data Layer phải tuân theo Domain.</a:t>
            </a:r>
          </a:p>
          <a:p>
            <a:pPr>
              <a:defRPr sz="1150" b="1">
                <a:solidFill>
                  <a:srgbClr val="10955D"/>
                </a:solidFill>
              </a:defRPr>
            </a:pPr>
            <a:r>
              <a:t>✔ Dễ dàng kiểm thử (100% Testable):</a:t>
            </a:r>
          </a:p>
          <a:p>
            <a:pPr>
              <a:spcAft>
                <a:spcPts val="400"/>
              </a:spcAft>
              <a:defRPr sz="1050">
                <a:solidFill>
                  <a:srgbClr val="0F172A"/>
                </a:solidFill>
              </a:defRPr>
            </a:pPr>
            <a:r>
              <a:t>   Thay MoviesRepositoryImpl bằng MockMoviesRepository khi chạy Unit Test.</a:t>
            </a:r>
          </a:p>
          <a:p>
            <a:pPr>
              <a:defRPr sz="1150" b="1">
                <a:solidFill>
                  <a:srgbClr val="10955D"/>
                </a:solidFill>
              </a:defRPr>
            </a:pPr>
            <a:r>
              <a:t>✔ Tự do thay thế công nghệ:</a:t>
            </a:r>
          </a:p>
          <a:p>
            <a:pPr>
              <a:spcAft>
                <a:spcPts val="400"/>
              </a:spcAft>
              <a:defRPr sz="1050">
                <a:solidFill>
                  <a:srgbClr val="0F172A"/>
                </a:solidFill>
              </a:defRPr>
            </a:pPr>
            <a:r>
              <a:t>   Chuyển từ REST API sang GraphQL, Firebase hay SQLite mà không cần chạm vào Domain!</a:t>
            </a:r>
          </a:p>
        </p:txBody>
      </p:sp>
      <p:sp>
        <p:nvSpPr>
          <p:cNvPr id="8" name="Rectangle 7"/>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10" name="TextBox 9"/>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4389120" cy="329184"/>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latin typeface="Segoe UI"/>
              </a:defRPr>
            </a:pPr>
            <a:r>
              <a:t>CHỦ ĐỀ 04: CLEAN ARCHITECTURE &amp; DEPENDENCY INJECTION</a:t>
            </a:r>
          </a:p>
        </p:txBody>
      </p:sp>
      <p:sp>
        <p:nvSpPr>
          <p:cNvPr id="4" name="TextBox 3"/>
          <p:cNvSpPr txBox="1"/>
          <p:nvPr/>
        </p:nvSpPr>
        <p:spPr>
          <a:xfrm>
            <a:off x="685800" y="621792"/>
            <a:ext cx="10789920" cy="640080"/>
          </a:xfrm>
          <a:prstGeom prst="rect">
            <a:avLst/>
          </a:prstGeom>
          <a:noFill/>
        </p:spPr>
        <p:txBody>
          <a:bodyPr wrap="square" lIns="0" tIns="0" rIns="0" bIns="0">
            <a:spAutoFit/>
          </a:bodyPr>
          <a:lstStyle/>
          <a:p>
            <a:pPr>
              <a:defRPr sz="2200" b="1">
                <a:solidFill>
                  <a:srgbClr val="0F172A"/>
                </a:solidFill>
                <a:latin typeface="Segoe UI"/>
              </a:defRPr>
            </a:pPr>
            <a:r>
              <a:t>7. Dependency Injection (DI) Với get_it &amp; Khởi Tạo Ứng Dụng</a:t>
            </a:r>
          </a:p>
        </p:txBody>
      </p:sp>
      <p:sp>
        <p:nvSpPr>
          <p:cNvPr id="5" name="Rounded Rectangle 4"/>
          <p:cNvSpPr/>
          <p:nvPr/>
        </p:nvSpPr>
        <p:spPr>
          <a:xfrm>
            <a:off x="731520" y="1371600"/>
            <a:ext cx="5212080" cy="475488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SERVICE LOCATOR CONTAINER (get_it)</a:t>
            </a:r>
          </a:p>
          <a:p>
            <a:pPr>
              <a:spcAft>
                <a:spcPts val="800"/>
              </a:spcAft>
              <a:defRPr sz="1000" b="1">
                <a:solidFill>
                  <a:srgbClr val="1D4ED8"/>
                </a:solidFill>
              </a:defRPr>
            </a:pPr>
            <a:r>
              <a:t>Tệp: lib/core/di/injection.dart (Composition Root)</a:t>
            </a:r>
          </a:p>
          <a:p>
            <a:pPr>
              <a:defRPr sz="1200" b="1">
                <a:solidFill>
                  <a:srgbClr val="0F172A"/>
                </a:solidFill>
              </a:defRPr>
            </a:pPr>
            <a:r>
              <a:t>• Composition Root duy nhất:</a:t>
            </a:r>
          </a:p>
          <a:p>
            <a:pPr>
              <a:spcAft>
                <a:spcPts val="600"/>
              </a:spcAft>
              <a:defRPr sz="1050">
                <a:solidFill>
                  <a:srgbClr val="475569"/>
                </a:solidFill>
              </a:defRPr>
            </a:pPr>
            <a:r>
              <a:t>  Là nơi duy nhất trong toàn bộ hệ thống biết cách kết nối các chi tiết cụ thể với nhau.</a:t>
            </a:r>
          </a:p>
          <a:p>
            <a:pPr>
              <a:defRPr sz="1200" b="1">
                <a:solidFill>
                  <a:srgbClr val="0F172A"/>
                </a:solidFill>
              </a:defRPr>
            </a:pPr>
            <a:r>
              <a:t>• Chuỗi đăng ký phụ thuộc phân tầng:</a:t>
            </a:r>
          </a:p>
          <a:p>
            <a:pPr>
              <a:spcAft>
                <a:spcPts val="600"/>
              </a:spcAft>
              <a:defRPr sz="1050">
                <a:solidFill>
                  <a:srgbClr val="475569"/>
                </a:solidFill>
              </a:defRPr>
            </a:pPr>
            <a:r>
              <a:t>  1. sl.registerLazySingleton(() =&gt; http.Client());</a:t>
            </a:r>
            <a:br/>
            <a:r>
              <a:t>2. sl.registerLazySingleton&lt;MoviesRemoteDataSource&gt;(() =&gt; MoviesRemoteDataSourceImpl(client: sl()));</a:t>
            </a:r>
            <a:br/>
            <a:r>
              <a:t>3. sl.registerLazySingleton&lt;MoviesRepository&gt;(() =&gt; MoviesRepositoryImpl(remoteDataSource: sl()));</a:t>
            </a:r>
            <a:br/>
            <a:r>
              <a:t>4. sl.registerLazySingleton(() =&gt; GetMovies(sl()));</a:t>
            </a:r>
            <a:br/>
            <a:r>
              <a:t>5. sl.registerFactory(() =&gt; MoviesBloc(getMovies: sl()));</a:t>
            </a:r>
          </a:p>
          <a:p>
            <a:pPr>
              <a:defRPr sz="1200" b="1">
                <a:solidFill>
                  <a:srgbClr val="0F172A"/>
                </a:solidFill>
              </a:defRPr>
            </a:pPr>
            <a:r>
              <a:t>• Constructor Injection:</a:t>
            </a:r>
          </a:p>
          <a:p>
            <a:pPr>
              <a:spcAft>
                <a:spcPts val="600"/>
              </a:spcAft>
              <a:defRPr sz="1050">
                <a:solidFill>
                  <a:srgbClr val="475569"/>
                </a:solidFill>
              </a:defRPr>
            </a:pPr>
            <a:r>
              <a:t>  Tất cả các class đều nhận phụ thuộc qua hàm khởi tạo, không tự ý new đối tượng.</a:t>
            </a:r>
          </a:p>
        </p:txBody>
      </p:sp>
      <p:sp>
        <p:nvSpPr>
          <p:cNvPr id="6" name="Rounded Rectangle 5"/>
          <p:cNvSpPr/>
          <p:nvPr/>
        </p:nvSpPr>
        <p:spPr>
          <a:xfrm>
            <a:off x="6248095" y="1371600"/>
            <a:ext cx="5212080" cy="475488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CƠ CHẾ KHỞI TẠO &amp; VÒNG ĐỜI (LIFECYCLE)</a:t>
            </a:r>
          </a:p>
          <a:p>
            <a:pPr>
              <a:spcAft>
                <a:spcPts val="800"/>
              </a:spcAft>
              <a:defRPr sz="1000" b="1">
                <a:solidFill>
                  <a:srgbClr val="1D4ED8"/>
                </a:solidFill>
              </a:defRPr>
            </a:pPr>
            <a:r>
              <a:t>Tệp: lib/main.dart &amp; lib/app.dart</a:t>
            </a:r>
          </a:p>
          <a:p>
            <a:pPr>
              <a:defRPr sz="1200" b="1">
                <a:solidFill>
                  <a:srgbClr val="0F172A"/>
                </a:solidFill>
              </a:defRPr>
            </a:pPr>
            <a:r>
              <a:t>• WidgetsFlutterBinding.ensureInitialized():</a:t>
            </a:r>
          </a:p>
          <a:p>
            <a:pPr>
              <a:spcAft>
                <a:spcPts val="600"/>
              </a:spcAft>
              <a:defRPr sz="1050">
                <a:solidFill>
                  <a:srgbClr val="475569"/>
                </a:solidFill>
              </a:defRPr>
            </a:pPr>
            <a:r>
              <a:t>  Đảm bảo sự liên kết hoàn tất giữa Flutter Framework và nền tảng máy ảo (Engine/Platform Channels) trước khi nạp DI.</a:t>
            </a:r>
          </a:p>
          <a:p>
            <a:pPr>
              <a:defRPr sz="1200" b="1">
                <a:solidFill>
                  <a:srgbClr val="0F172A"/>
                </a:solidFill>
              </a:defRPr>
            </a:pPr>
            <a:r>
              <a:t>• Khởi tạo cấu hình DI:</a:t>
            </a:r>
          </a:p>
          <a:p>
            <a:pPr>
              <a:spcAft>
                <a:spcPts val="600"/>
              </a:spcAft>
              <a:defRPr sz="1050">
                <a:solidFill>
                  <a:srgbClr val="475569"/>
                </a:solidFill>
              </a:defRPr>
            </a:pPr>
            <a:r>
              <a:t>  Gọi configureDependencies() ngay trong hàm main() trước khi runApp(), đảm bảo tất cả singleton sẵn sàng hoạt động.</a:t>
            </a:r>
          </a:p>
          <a:p>
            <a:pPr>
              <a:defRPr sz="1200" b="1">
                <a:solidFill>
                  <a:srgbClr val="0F172A"/>
                </a:solidFill>
              </a:defRPr>
            </a:pPr>
            <a:r>
              <a:t>• BlocProvider gắn kết Widget Tree:</a:t>
            </a:r>
          </a:p>
          <a:p>
            <a:pPr>
              <a:spcAft>
                <a:spcPts val="600"/>
              </a:spcAft>
              <a:defRPr sz="1050">
                <a:solidFill>
                  <a:srgbClr val="475569"/>
                </a:solidFill>
              </a:defRPr>
            </a:pPr>
            <a:r>
              <a:t>  Trong app.dart, sử dụng BlocProvider(create: (_) =&gt; di.sl&lt;MoviesBloc&gt;()..add(const MoviesRequested())) để cung cấp BLoC.</a:t>
            </a:r>
          </a:p>
          <a:p>
            <a:pPr>
              <a:defRPr sz="1200" b="1">
                <a:solidFill>
                  <a:srgbClr val="0F172A"/>
                </a:solidFill>
              </a:defRPr>
            </a:pPr>
            <a:r>
              <a:t>• Quản lý tài nguyên an toàn:</a:t>
            </a:r>
          </a:p>
          <a:p>
            <a:pPr>
              <a:spcAft>
                <a:spcPts val="600"/>
              </a:spcAft>
              <a:defRPr sz="1050">
                <a:solidFill>
                  <a:srgbClr val="475569"/>
                </a:solidFill>
              </a:defRPr>
            </a:pPr>
            <a:r>
              <a:t>  BlocProvider tự động gọi moviesBloc.close() khi widget thoát khỏi cây giao diện, ngăn chặn triệt để rò rỉ bộ nhớ (Memory Leak).</a:t>
            </a:r>
          </a:p>
        </p:txBody>
      </p:sp>
      <p:sp>
        <p:nvSpPr>
          <p:cNvPr id="7" name="Rectangle 6"/>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9" name="TextBox 8"/>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4389120" cy="329184"/>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latin typeface="Segoe UI"/>
              </a:defRPr>
            </a:pPr>
            <a:r>
              <a:t>CHỦ ĐỀ 04: CLEAN ARCHITECTURE &amp; DEPENDENCY INJECTION</a:t>
            </a:r>
          </a:p>
        </p:txBody>
      </p:sp>
      <p:sp>
        <p:nvSpPr>
          <p:cNvPr id="4" name="TextBox 3"/>
          <p:cNvSpPr txBox="1"/>
          <p:nvPr/>
        </p:nvSpPr>
        <p:spPr>
          <a:xfrm>
            <a:off x="685800" y="621792"/>
            <a:ext cx="10789920" cy="640080"/>
          </a:xfrm>
          <a:prstGeom prst="rect">
            <a:avLst/>
          </a:prstGeom>
          <a:noFill/>
        </p:spPr>
        <p:txBody>
          <a:bodyPr wrap="square" lIns="0" tIns="0" rIns="0" bIns="0">
            <a:spAutoFit/>
          </a:bodyPr>
          <a:lstStyle/>
          <a:p>
            <a:pPr>
              <a:defRPr sz="2200" b="1">
                <a:solidFill>
                  <a:srgbClr val="0F172A"/>
                </a:solidFill>
                <a:latin typeface="Segoe UI"/>
              </a:defRPr>
            </a:pPr>
            <a:r>
              <a:t>8. Những Kết Quả Cụ Thể Đã Làm Được Trong Tuần 1</a:t>
            </a:r>
          </a:p>
        </p:txBody>
      </p:sp>
      <p:sp>
        <p:nvSpPr>
          <p:cNvPr id="5" name="Rounded Rectangle 4"/>
          <p:cNvSpPr/>
          <p:nvPr/>
        </p:nvSpPr>
        <p:spPr>
          <a:xfrm>
            <a:off x="731520" y="1371600"/>
            <a:ext cx="5212080" cy="228600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1. KẾT NỐI REST API THẬT 100%</a:t>
            </a:r>
          </a:p>
          <a:p>
            <a:pPr>
              <a:spcAft>
                <a:spcPts val="300"/>
              </a:spcAft>
              <a:defRPr sz="1100">
                <a:solidFill>
                  <a:srgbClr val="0F172A"/>
                </a:solidFill>
              </a:defRPr>
            </a:pPr>
            <a:r>
              <a:t>• Gọi dữ liệu phim thực tế từ REST API (GitHub Raw JSON), không dùng mock giả lập.</a:t>
            </a:r>
          </a:p>
          <a:p>
            <a:pPr>
              <a:spcAft>
                <a:spcPts val="300"/>
              </a:spcAft>
              <a:defRPr sz="1100">
                <a:solidFill>
                  <a:srgbClr val="0F172A"/>
                </a:solidFill>
              </a:defRPr>
            </a:pPr>
            <a:r>
              <a:t>• Lấy về danh sách 24 bộ phim chiếu rạp với đầy đủ thông tin: Tiêu đề, Poster (Amazon CDN), Điểm IMDb, Năm phát hành, Diễn viên và Tóm tắt.</a:t>
            </a:r>
          </a:p>
          <a:p>
            <a:pPr>
              <a:spcAft>
                <a:spcPts val="300"/>
              </a:spcAft>
              <a:defRPr sz="1100">
                <a:solidFill>
                  <a:srgbClr val="0F172A"/>
                </a:solidFill>
              </a:defRPr>
            </a:pPr>
            <a:r>
              <a:t>• Thời gian phản hồi nhanh, dữ liệu sạch và chuẩn xác.</a:t>
            </a:r>
          </a:p>
        </p:txBody>
      </p:sp>
      <p:sp>
        <p:nvSpPr>
          <p:cNvPr id="6" name="Rounded Rectangle 5"/>
          <p:cNvSpPr/>
          <p:nvPr/>
        </p:nvSpPr>
        <p:spPr>
          <a:xfrm>
            <a:off x="6248095" y="1371600"/>
            <a:ext cx="5212080" cy="228600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2. GIAO DIỆN SÁNG (LIGHT THEME) HOÀN CHỈNH</a:t>
            </a:r>
          </a:p>
          <a:p>
            <a:pPr>
              <a:spcAft>
                <a:spcPts val="300"/>
              </a:spcAft>
              <a:defRPr sz="1100">
                <a:solidFill>
                  <a:srgbClr val="0F172A"/>
                </a:solidFill>
              </a:defRPr>
            </a:pPr>
            <a:r>
              <a:t>• Đổi mới giao diện theo phong cách Light Theme thanh lịch, tên ứng dụng: PhePhim.</a:t>
            </a:r>
          </a:p>
          <a:p>
            <a:pPr>
              <a:spcAft>
                <a:spcPts val="300"/>
              </a:spcAft>
              <a:defRPr sz="1100">
                <a:solidFill>
                  <a:srgbClr val="0F172A"/>
                </a:solidFill>
              </a:defRPr>
            </a:pPr>
            <a:r>
              <a:t>• Card phim bo góc hiện đại, poster sắc nét kèm huy hiệu điểm IMDb vàng sang trọng.</a:t>
            </a:r>
          </a:p>
          <a:p>
            <a:pPr>
              <a:spcAft>
                <a:spcPts val="300"/>
              </a:spcAft>
              <a:defRPr sz="1100">
                <a:solidFill>
                  <a:srgbClr val="0F172A"/>
                </a:solidFill>
              </a:defRPr>
            </a:pPr>
            <a:r>
              <a:t>• Dialog kiến trúc Clean Architecture hiển thị trực tiếp cấu trúc các tầng trên app.</a:t>
            </a:r>
          </a:p>
          <a:p>
            <a:pPr>
              <a:spcAft>
                <a:spcPts val="300"/>
              </a:spcAft>
              <a:defRPr sz="1100">
                <a:solidFill>
                  <a:srgbClr val="0F172A"/>
                </a:solidFill>
              </a:defRPr>
            </a:pPr>
            <a:r>
              <a:t>• Bố cục giao diện hiển thị mượt mà trên cả trình duyệt Web, Mobile và Desktop.</a:t>
            </a:r>
          </a:p>
        </p:txBody>
      </p:sp>
      <p:sp>
        <p:nvSpPr>
          <p:cNvPr id="7" name="Rounded Rectangle 6"/>
          <p:cNvSpPr/>
          <p:nvPr/>
        </p:nvSpPr>
        <p:spPr>
          <a:xfrm>
            <a:off x="731520" y="3840480"/>
            <a:ext cx="5212080" cy="2286000"/>
          </a:xfrm>
          <a:prstGeom prst="roundRect">
            <a:avLst/>
          </a:prstGeom>
          <a:solidFill>
            <a:srgbClr val="F8FAFC"/>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3. PHẢN HỒI NGƯỜI DÙNG &amp; NÚT 'THỬ LẠI' (RETRY)</a:t>
            </a:r>
          </a:p>
          <a:p>
            <a:pPr>
              <a:spcAft>
                <a:spcPts val="300"/>
              </a:spcAft>
              <a:defRPr sz="1100">
                <a:solidFill>
                  <a:srgbClr val="0F172A"/>
                </a:solidFill>
              </a:defRPr>
            </a:pPr>
            <a:r>
              <a:t>• Đáp ứng trọn vẹn yêu cầu phản hồi từ thao tác người dùng (User Interaction).</a:t>
            </a:r>
          </a:p>
          <a:p>
            <a:pPr>
              <a:spcAft>
                <a:spcPts val="300"/>
              </a:spcAft>
              <a:defRPr sz="1100">
                <a:solidFill>
                  <a:srgbClr val="0F172A"/>
                </a:solidFill>
              </a:defRPr>
            </a:pPr>
            <a:r>
              <a:t>• Bắt ngoại lệ mất mạng/lỗi máy chủ: hiển thị màn hình báo lỗi tiếng Việt trực quan.</a:t>
            </a:r>
          </a:p>
          <a:p>
            <a:pPr>
              <a:spcAft>
                <a:spcPts val="300"/>
              </a:spcAft>
              <a:defRPr sz="1100">
                <a:solidFill>
                  <a:srgbClr val="0F172A"/>
                </a:solidFill>
              </a:defRPr>
            </a:pPr>
            <a:r>
              <a:t>• Tích hợp nút 'Thử lại' (Retry): Người dùng nhấn nút sẽ kích hoạt lại MoviesRequested để BLoC tải lại dữ liệu mà không cần khởi động lại ứng dụng.</a:t>
            </a:r>
          </a:p>
          <a:p>
            <a:pPr>
              <a:spcAft>
                <a:spcPts val="300"/>
              </a:spcAft>
              <a:defRPr sz="1100">
                <a:solidFill>
                  <a:srgbClr val="0F172A"/>
                </a:solidFill>
              </a:defRPr>
            </a:pPr>
            <a:r>
              <a:t>• Hiển thị thanh chờ (Loading Spinner) chỉn chu trong suốt quá trình tải.</a:t>
            </a:r>
          </a:p>
        </p:txBody>
      </p:sp>
      <p:sp>
        <p:nvSpPr>
          <p:cNvPr id="8" name="Rounded Rectangle 7"/>
          <p:cNvSpPr/>
          <p:nvPr/>
        </p:nvSpPr>
        <p:spPr>
          <a:xfrm>
            <a:off x="6248095" y="3840480"/>
            <a:ext cx="5212080" cy="2286000"/>
          </a:xfrm>
          <a:prstGeom prst="roundRect">
            <a:avLst/>
          </a:prstGeom>
          <a:solidFill>
            <a:srgbClr val="F0FDF4"/>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4. CHUẨN MỰC MÃ NGUỒN &amp; QUẢN LÝ GIT</a:t>
            </a:r>
          </a:p>
          <a:p>
            <a:pPr>
              <a:spcAft>
                <a:spcPts val="300"/>
              </a:spcAft>
              <a:defRPr sz="1100">
                <a:solidFill>
                  <a:srgbClr val="0F172A"/>
                </a:solidFill>
              </a:defRPr>
            </a:pPr>
            <a:r>
              <a:t>• Mã nguồn đạt 0 lỗi phân tích: flutter analyze không có cảnh báo nào (0 issues).</a:t>
            </a:r>
          </a:p>
          <a:p>
            <a:pPr>
              <a:spcAft>
                <a:spcPts val="300"/>
              </a:spcAft>
              <a:defRPr sz="1100">
                <a:solidFill>
                  <a:srgbClr val="0F172A"/>
                </a:solidFill>
              </a:defRPr>
            </a:pPr>
            <a:r>
              <a:t>• Toàn bộ mã nguồn được lưu trữ tại GitHub: github.com/imagiro2005/movie_app.</a:t>
            </a:r>
          </a:p>
          <a:p>
            <a:pPr>
              <a:spcAft>
                <a:spcPts val="300"/>
              </a:spcAft>
              <a:defRPr sz="1100">
                <a:solidFill>
                  <a:srgbClr val="0F172A"/>
                </a:solidFill>
              </a:defRPr>
            </a:pPr>
            <a:r>
              <a:t>• Đã gắn Git Tag chính thức: v1.0-week1 đánh dấu cột mốc hoàn thành Tuần 1.</a:t>
            </a:r>
          </a:p>
          <a:p>
            <a:pPr>
              <a:spcAft>
                <a:spcPts val="300"/>
              </a:spcAft>
              <a:defRPr sz="1100">
                <a:solidFill>
                  <a:srgbClr val="0F172A"/>
                </a:solidFill>
              </a:defRPr>
            </a:pPr>
            <a:r>
              <a:t>• Lịch sử commit sạch, rõ ràng theo đúng chuẩn phân tầng Clean Architecture.</a:t>
            </a:r>
          </a:p>
        </p:txBody>
      </p:sp>
      <p:sp>
        <p:nvSpPr>
          <p:cNvPr id="9" name="Rectangle 8"/>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11" name="TextBox 10"/>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4389120" cy="329184"/>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latin typeface="Segoe UI"/>
              </a:defRPr>
            </a:pPr>
            <a:r>
              <a:t>CHỦ ĐỀ 04: CLEAN ARCHITECTURE &amp; DEPENDENCY INJECTION</a:t>
            </a:r>
          </a:p>
        </p:txBody>
      </p:sp>
      <p:sp>
        <p:nvSpPr>
          <p:cNvPr id="4" name="TextBox 3"/>
          <p:cNvSpPr txBox="1"/>
          <p:nvPr/>
        </p:nvSpPr>
        <p:spPr>
          <a:xfrm>
            <a:off x="685800" y="621792"/>
            <a:ext cx="10789920" cy="640080"/>
          </a:xfrm>
          <a:prstGeom prst="rect">
            <a:avLst/>
          </a:prstGeom>
          <a:noFill/>
        </p:spPr>
        <p:txBody>
          <a:bodyPr wrap="square" lIns="0" tIns="0" rIns="0" bIns="0">
            <a:spAutoFit/>
          </a:bodyPr>
          <a:lstStyle/>
          <a:p>
            <a:pPr>
              <a:defRPr sz="2200" b="1">
                <a:solidFill>
                  <a:srgbClr val="0F172A"/>
                </a:solidFill>
                <a:latin typeface="Segoe UI"/>
              </a:defRPr>
            </a:pPr>
            <a:r>
              <a:t>9. Kiểm Thử Tự Động (Unit Test) &amp; Minh Chứng Decoupling</a:t>
            </a:r>
          </a:p>
        </p:txBody>
      </p:sp>
      <p:sp>
        <p:nvSpPr>
          <p:cNvPr id="5" name="Rounded Rectangle 4"/>
          <p:cNvSpPr/>
          <p:nvPr/>
        </p:nvSpPr>
        <p:spPr>
          <a:xfrm>
            <a:off x="731520" y="1371600"/>
            <a:ext cx="5212080" cy="475488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BỘ KIỂM THỬ TỰ ĐỘNG 3 TẦNG (TEST SUITE)</a:t>
            </a:r>
          </a:p>
          <a:p>
            <a:pPr>
              <a:defRPr sz="1200" b="1">
                <a:solidFill>
                  <a:srgbClr val="1D4ED8"/>
                </a:solidFill>
              </a:defRPr>
            </a:pPr>
            <a:r>
              <a:t>1. Domain Layer Test (get_movies_test.dart):</a:t>
            </a:r>
          </a:p>
          <a:p>
            <a:pPr>
              <a:spcAft>
                <a:spcPts val="600"/>
              </a:spcAft>
              <a:defRPr sz="1050">
                <a:solidFill>
                  <a:srgbClr val="475569"/>
                </a:solidFill>
              </a:defRPr>
            </a:pPr>
            <a:r>
              <a:t>  • Sử dụng package mocktail để Mock MoviesRepository.</a:t>
            </a:r>
            <a:br/>
            <a:r>
              <a:t>• Kiểm tra UseCase GetMovies gọi đúng hàm và trả về dữ liệu entity chính xác mà hoàn toàn KHÔNG cần kết nối mạng hay gọi API thật.</a:t>
            </a:r>
          </a:p>
          <a:p>
            <a:pPr>
              <a:defRPr sz="1200" b="1">
                <a:solidFill>
                  <a:srgbClr val="1D4ED8"/>
                </a:solidFill>
              </a:defRPr>
            </a:pPr>
            <a:r>
              <a:t>2. Data Layer Test (movie_model_test.dart):</a:t>
            </a:r>
          </a:p>
          <a:p>
            <a:pPr>
              <a:spcAft>
                <a:spcPts val="600"/>
              </a:spcAft>
              <a:defRPr sz="1050">
                <a:solidFill>
                  <a:srgbClr val="475569"/>
                </a:solidFill>
              </a:defRPr>
            </a:pPr>
            <a:r>
              <a:t>  • Kiểm tra hàm MovieModel.fromJson() phân tích chính xác JSON thành đối tượng.</a:t>
            </a:r>
            <a:br/>
            <a:r>
              <a:t>• Xác nhận MovieModel kế thừa hoàn hảo và tương thích kiểu dữ liệu với Movie Entity.</a:t>
            </a:r>
          </a:p>
          <a:p>
            <a:pPr>
              <a:defRPr sz="1200" b="1">
                <a:solidFill>
                  <a:srgbClr val="1D4ED8"/>
                </a:solidFill>
              </a:defRPr>
            </a:pPr>
            <a:r>
              <a:t>3. Presentation Layer Test (movies_bloc_test.dart):</a:t>
            </a:r>
          </a:p>
          <a:p>
            <a:pPr>
              <a:spcAft>
                <a:spcPts val="600"/>
              </a:spcAft>
              <a:defRPr sz="1050">
                <a:solidFill>
                  <a:srgbClr val="475569"/>
                </a:solidFill>
              </a:defRPr>
            </a:pPr>
            <a:r>
              <a:t>  • Sử dụng bloc_test kiểm tra chuỗi chuyển đổi trạng thái của MoviesBloc.</a:t>
            </a:r>
            <a:br/>
            <a:r>
              <a:t>• Khi có MoviesRequested: phát ra [MoviesLoading, MoviesSuccess] khi thành công, hoặc [MoviesLoading, MoviesFailure] khi có ngoại lệ.</a:t>
            </a:r>
          </a:p>
        </p:txBody>
      </p:sp>
      <p:sp>
        <p:nvSpPr>
          <p:cNvPr id="6" name="Rounded Rectangle 5"/>
          <p:cNvSpPr/>
          <p:nvPr/>
        </p:nvSpPr>
        <p:spPr>
          <a:xfrm>
            <a:off x="6248095" y="1371600"/>
            <a:ext cx="5212080" cy="4754880"/>
          </a:xfrm>
          <a:prstGeom prst="roundRect">
            <a:avLst/>
          </a:prstGeom>
          <a:solidFill>
            <a:srgbClr val="F0FDF4"/>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KẾT QUẢ NGHIỆM THU &amp; GIÁ TRỊ KIẾN TRÚC</a:t>
            </a:r>
          </a:p>
          <a:p>
            <a:pPr>
              <a:spcAft>
                <a:spcPts val="1000"/>
              </a:spcAft>
              <a:defRPr sz="1400" b="1">
                <a:solidFill>
                  <a:srgbClr val="10955D"/>
                </a:solidFill>
              </a:defRPr>
            </a:pPr>
            <a:r>
              <a:t>★ KẾT QUẢ: 8 / 8 TESTS PASSED (100% XANH)</a:t>
            </a:r>
          </a:p>
          <a:p>
            <a:pPr>
              <a:defRPr sz="1200" b="1">
                <a:solidFill>
                  <a:srgbClr val="0F172A"/>
                </a:solidFill>
              </a:defRPr>
            </a:pPr>
            <a:r>
              <a:t>✔ Minh chứng cho tính Decoupling (Tách rời phụ thuộc):</a:t>
            </a:r>
          </a:p>
          <a:p>
            <a:pPr>
              <a:spcAft>
                <a:spcPts val="600"/>
              </a:spcAft>
              <a:defRPr sz="1050">
                <a:solidFill>
                  <a:srgbClr val="0F172A"/>
                </a:solidFill>
              </a:defRPr>
            </a:pPr>
            <a:r>
              <a:t>   Toàn bộ bài test Domain và BLoC đều thực thi thành công trong mili-giây mà không hề tạo bất kỳ kết nối HTTP nào tới máy chủ. Điều này chứng minh tầng nghiệp vụ đã được cô lập độc lập hoàn toàn.</a:t>
            </a:r>
          </a:p>
          <a:p>
            <a:pPr>
              <a:defRPr sz="1200" b="1">
                <a:solidFill>
                  <a:srgbClr val="0F172A"/>
                </a:solidFill>
              </a:defRPr>
            </a:pPr>
            <a:r>
              <a:t>✔ Phát hiện lỗi hồi quy sớm (Regression Prevention):</a:t>
            </a:r>
          </a:p>
          <a:p>
            <a:pPr>
              <a:spcAft>
                <a:spcPts val="600"/>
              </a:spcAft>
              <a:defRPr sz="1050">
                <a:solidFill>
                  <a:srgbClr val="0F172A"/>
                </a:solidFill>
              </a:defRPr>
            </a:pPr>
            <a:r>
              <a:t>   Bất kỳ sự thay đổi mã nguồn nào vi phạm cấu trúc hoặc làm gãy luồng dữ liệu đều bị bộ test phát hiện ngay tại máy phát triển trước khi build.</a:t>
            </a:r>
          </a:p>
          <a:p>
            <a:pPr>
              <a:defRPr sz="1200" b="1">
                <a:solidFill>
                  <a:srgbClr val="0F172A"/>
                </a:solidFill>
              </a:defRPr>
            </a:pPr>
            <a:r>
              <a:t>✔ Nền tảng vững chắc cho TDD (Test-Driven Development):</a:t>
            </a:r>
          </a:p>
          <a:p>
            <a:pPr>
              <a:spcAft>
                <a:spcPts val="600"/>
              </a:spcAft>
              <a:defRPr sz="1050">
                <a:solidFill>
                  <a:srgbClr val="0F172A"/>
                </a:solidFill>
              </a:defRPr>
            </a:pPr>
            <a:r>
              <a:t>   Sẵn sàng áp dụng mở rộng kiểm thử Widget Test và Integration Test ở các giai đoạn sau.</a:t>
            </a:r>
          </a:p>
        </p:txBody>
      </p:sp>
      <p:sp>
        <p:nvSpPr>
          <p:cNvPr id="7" name="Rectangle 6"/>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9" name="TextBox 8"/>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4389120" cy="329184"/>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latin typeface="Segoe UI"/>
              </a:defRPr>
            </a:pPr>
            <a:r>
              <a:t>CHỦ ĐỀ 04: CLEAN ARCHITECTURE &amp; DEPENDENCY INJECTION</a:t>
            </a:r>
          </a:p>
        </p:txBody>
      </p:sp>
      <p:sp>
        <p:nvSpPr>
          <p:cNvPr id="4" name="TextBox 3"/>
          <p:cNvSpPr txBox="1"/>
          <p:nvPr/>
        </p:nvSpPr>
        <p:spPr>
          <a:xfrm>
            <a:off x="685800" y="621792"/>
            <a:ext cx="10789920" cy="640080"/>
          </a:xfrm>
          <a:prstGeom prst="rect">
            <a:avLst/>
          </a:prstGeom>
          <a:noFill/>
        </p:spPr>
        <p:txBody>
          <a:bodyPr wrap="square" lIns="0" tIns="0" rIns="0" bIns="0">
            <a:spAutoFit/>
          </a:bodyPr>
          <a:lstStyle/>
          <a:p>
            <a:pPr>
              <a:defRPr sz="2200" b="1">
                <a:solidFill>
                  <a:srgbClr val="0F172A"/>
                </a:solidFill>
                <a:latin typeface="Segoe UI"/>
              </a:defRPr>
            </a:pPr>
            <a:r>
              <a:t>10. Lộ Trình Phát Triển &amp; Tổng Kết Đồ Án</a:t>
            </a:r>
          </a:p>
        </p:txBody>
      </p:sp>
      <p:sp>
        <p:nvSpPr>
          <p:cNvPr id="5" name="Rounded Rectangle 4"/>
          <p:cNvSpPr/>
          <p:nvPr/>
        </p:nvSpPr>
        <p:spPr>
          <a:xfrm>
            <a:off x="731520" y="1371600"/>
            <a:ext cx="5212080" cy="475488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KẾ HOẠCH PHÁT TRIỂN TIẾP THEO (ROADMAP)</a:t>
            </a:r>
          </a:p>
          <a:p>
            <a:pPr>
              <a:defRPr sz="1200" b="1">
                <a:solidFill>
                  <a:srgbClr val="1D4ED8"/>
                </a:solidFill>
              </a:defRPr>
            </a:pPr>
            <a:r>
              <a:t>Tuần 2 — Mở Rộng Tính Năng &amp; Bộ Nhớ Đệm (Caching):</a:t>
            </a:r>
          </a:p>
          <a:p>
            <a:pPr>
              <a:defRPr sz="1000">
                <a:solidFill>
                  <a:srgbClr val="475569"/>
                </a:solidFill>
              </a:defRPr>
            </a:pPr>
            <a:r>
              <a:t>  • Xây dựng màn hình Chi tiết phim (MovieDetailPage): Trailer, đạo diễn, dàn diễn viên.</a:t>
            </a:r>
          </a:p>
          <a:p>
            <a:pPr>
              <a:spcAft>
                <a:spcPts val="400"/>
              </a:spcAft>
              <a:defRPr sz="1000">
                <a:solidFill>
                  <a:srgbClr val="475569"/>
                </a:solidFill>
              </a:defRPr>
            </a:pPr>
            <a:r>
              <a:t>  • Tích hợp LocalDataSource với Hive / SQLite để lưu cache offline, giúp người dùng xem phim ngay cả khi không có mạng.</a:t>
            </a:r>
          </a:p>
          <a:p>
            <a:pPr>
              <a:defRPr sz="1200" b="1">
                <a:solidFill>
                  <a:srgbClr val="1D4ED8"/>
                </a:solidFill>
              </a:defRPr>
            </a:pPr>
            <a:r>
              <a:t>Tuần 3 — Tìm Kiếm &amp; Tối Ưu Tương Tác:</a:t>
            </a:r>
          </a:p>
          <a:p>
            <a:pPr>
              <a:defRPr sz="1000">
                <a:solidFill>
                  <a:srgbClr val="475569"/>
                </a:solidFill>
              </a:defRPr>
            </a:pPr>
            <a:r>
              <a:t>  • Tính năng tìm kiếm phim thời gian thực áp dụng kỹ thuật Debounce Stream (tránh spam API khi người dùng đang gõ phím).</a:t>
            </a:r>
          </a:p>
          <a:p>
            <a:pPr>
              <a:spcAft>
                <a:spcPts val="400"/>
              </a:spcAft>
              <a:defRPr sz="1000">
                <a:solidFill>
                  <a:srgbClr val="475569"/>
                </a:solidFill>
              </a:defRPr>
            </a:pPr>
            <a:r>
              <a:t>  • Hiệu ứng chuyển cảnh Hero Animation mượt mà giữa danh sách và chi tiết.</a:t>
            </a:r>
          </a:p>
          <a:p>
            <a:pPr>
              <a:defRPr sz="1200" b="1">
                <a:solidFill>
                  <a:srgbClr val="1D4ED8"/>
                </a:solidFill>
              </a:defRPr>
            </a:pPr>
            <a:r>
              <a:t>Tuần 4 — Hoàn Thiện &amp; Đóng Gói Ứng Dụng:</a:t>
            </a:r>
          </a:p>
          <a:p>
            <a:pPr>
              <a:defRPr sz="1000">
                <a:solidFill>
                  <a:srgbClr val="475569"/>
                </a:solidFill>
              </a:defRPr>
            </a:pPr>
            <a:r>
              <a:t>  • Bổ sung Widget Test và Integration Test hoàn chỉnh.</a:t>
            </a:r>
          </a:p>
          <a:p>
            <a:pPr>
              <a:spcAft>
                <a:spcPts val="400"/>
              </a:spcAft>
              <a:defRPr sz="1000">
                <a:solidFill>
                  <a:srgbClr val="475569"/>
                </a:solidFill>
              </a:defRPr>
            </a:pPr>
            <a:r>
              <a:t>  • Đóng gói và xuất bản ứng dụng đa nền tảng (Web, Android APK).</a:t>
            </a:r>
          </a:p>
        </p:txBody>
      </p:sp>
      <p:sp>
        <p:nvSpPr>
          <p:cNvPr id="6" name="Rounded Rectangle 5"/>
          <p:cNvSpPr/>
          <p:nvPr/>
        </p:nvSpPr>
        <p:spPr>
          <a:xfrm>
            <a:off x="6248095" y="1371600"/>
            <a:ext cx="5212080" cy="475488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400" b="1">
                <a:solidFill>
                  <a:srgbClr val="0F172A"/>
                </a:solidFill>
                <a:latin typeface="Segoe UI"/>
              </a:defRPr>
            </a:pPr>
            <a:r>
              <a:t>TỔNG KẾT ĐÁNH GIÁ GIAI ĐOẠN 1</a:t>
            </a:r>
          </a:p>
          <a:p>
            <a:pPr>
              <a:defRPr sz="1200" b="1">
                <a:solidFill>
                  <a:srgbClr val="0F172A"/>
                </a:solidFill>
              </a:defRPr>
            </a:pPr>
            <a:r>
              <a:t>★ Hoàn thành trọn vẹn mục tiêu Tuần 1:</a:t>
            </a:r>
          </a:p>
          <a:p>
            <a:pPr>
              <a:spcAft>
                <a:spcPts val="600"/>
              </a:spcAft>
              <a:defRPr sz="1050">
                <a:solidFill>
                  <a:srgbClr val="475569"/>
                </a:solidFill>
              </a:defRPr>
            </a:pPr>
            <a:r>
              <a:t>   Nhóm đã xây dựng thành công kiến trúc Clean Architecture 3 lớp chuẩn mực trên Flutter, áp dụng triệt để nguyên lý Đảo ngược phụ thuộc (DIP) và Dependency Injection (DI) với get_it.</a:t>
            </a:r>
          </a:p>
          <a:p>
            <a:pPr>
              <a:defRPr sz="1200" b="1">
                <a:solidFill>
                  <a:srgbClr val="0F172A"/>
                </a:solidFill>
              </a:defRPr>
            </a:pPr>
            <a:r>
              <a:t>★ Ứng dụng thực tế chất lượng cao:</a:t>
            </a:r>
          </a:p>
          <a:p>
            <a:pPr>
              <a:spcAft>
                <a:spcPts val="600"/>
              </a:spcAft>
              <a:defRPr sz="1050">
                <a:solidFill>
                  <a:srgbClr val="475569"/>
                </a:solidFill>
              </a:defRPr>
            </a:pPr>
            <a:r>
              <a:t>   PhePhim hoạt động ổn định với dữ liệu REST API thật, giao diện sáng hiện đại, phản hồi thao tác người dùng tốt và có cơ chế xử lý lỗi mạng kèm nút Retry phục hồi tức thì.</a:t>
            </a:r>
          </a:p>
          <a:p>
            <a:pPr>
              <a:defRPr sz="1200" b="1">
                <a:solidFill>
                  <a:srgbClr val="0F172A"/>
                </a:solidFill>
              </a:defRPr>
            </a:pPr>
            <a:r>
              <a:t>★ Độ bao phủ kiểm thử ấn tượng:</a:t>
            </a:r>
          </a:p>
          <a:p>
            <a:pPr>
              <a:spcAft>
                <a:spcPts val="600"/>
              </a:spcAft>
              <a:defRPr sz="1050">
                <a:solidFill>
                  <a:srgbClr val="475569"/>
                </a:solidFill>
              </a:defRPr>
            </a:pPr>
            <a:r>
              <a:t>   8/8 Unit tests đạt 100% Pass, chứng minh tính độc lập và khả năng mở rộng của cấu trúc mã nguồn.</a:t>
            </a:r>
          </a:p>
          <a:p>
            <a:pPr>
              <a:defRPr sz="1200" b="1">
                <a:solidFill>
                  <a:srgbClr val="0F172A"/>
                </a:solidFill>
              </a:defRPr>
            </a:pPr>
            <a:r>
              <a:t>★ Cam kết nhóm:</a:t>
            </a:r>
          </a:p>
          <a:p>
            <a:pPr>
              <a:spcAft>
                <a:spcPts val="600"/>
              </a:spcAft>
              <a:defRPr sz="1050">
                <a:solidFill>
                  <a:srgbClr val="475569"/>
                </a:solidFill>
              </a:defRPr>
            </a:pPr>
            <a:r>
              <a:t>   Duy trì chất lượng mã nguồn cao cấp, tiếp tục phối hợp nhịp nhàng để triển khai xuất sắc các mốc tiến độ tiếp theo.</a:t>
            </a:r>
          </a:p>
        </p:txBody>
      </p:sp>
      <p:sp>
        <p:nvSpPr>
          <p:cNvPr id="7" name="Rectangle 6"/>
          <p:cNvSpPr/>
          <p:nvPr/>
        </p:nvSpPr>
        <p:spPr>
          <a:xfrm>
            <a:off x="731520" y="6327648"/>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00800"/>
            <a:ext cx="8686800" cy="320040"/>
          </a:xfrm>
          <a:prstGeom prst="rect">
            <a:avLst/>
          </a:prstGeom>
          <a:noFill/>
        </p:spPr>
        <p:txBody>
          <a:bodyPr wrap="none" lIns="0" tIns="0" rIns="0" bIns="0">
            <a:spAutoFit/>
          </a:bodyPr>
          <a:lstStyle/>
          <a:p>
            <a:pPr>
              <a:defRPr sz="950">
                <a:solidFill>
                  <a:srgbClr val="64748B"/>
                </a:solidFill>
                <a:latin typeface="Segoe UI"/>
              </a:defRPr>
            </a:pPr>
            <a:r>
              <a:t>Ứng dụng PhePhim | Lập trình Đa nền tảng — Khoa ĐTVT, Trường ĐH Bách Khoa - ĐH Đà Nẵng | GVHD: TS. Nguyễn Duy Nhật Viễn</a:t>
            </a:r>
          </a:p>
        </p:txBody>
      </p:sp>
      <p:sp>
        <p:nvSpPr>
          <p:cNvPr id="9" name="TextBox 8"/>
          <p:cNvSpPr txBox="1"/>
          <p:nvPr/>
        </p:nvSpPr>
        <p:spPr>
          <a:xfrm>
            <a:off x="10058400" y="6400800"/>
            <a:ext cx="1371600" cy="320040"/>
          </a:xfrm>
          <a:prstGeom prst="rect">
            <a:avLst/>
          </a:prstGeom>
          <a:noFill/>
        </p:spPr>
        <p:txBody>
          <a:bodyPr wrap="none" lIns="0" tIns="0" rIns="0" bIns="0">
            <a:spAutoFit/>
          </a:bodyPr>
          <a:lstStyle/>
          <a:p>
            <a:pPr algn="r">
              <a:defRPr sz="950" b="1">
                <a:solidFill>
                  <a:srgbClr val="1D4ED8"/>
                </a:solidFill>
                <a:latin typeface="Segoe UI"/>
              </a:defRPr>
            </a:pPr>
            <a:r>
              <a:t>Trang 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