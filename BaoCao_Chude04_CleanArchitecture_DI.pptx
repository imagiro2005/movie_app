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14"/>
    <p:sldId id="262" r:id="rId15"/>
    <p:sldId id="26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8" d="100"/>
          <a:sy n="78" d="100"/>
        </p:scale>
        <p:origin x="80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customXml" Target="../customXml/item1.xml"/><Relationship Id="rId12" Type="http://schemas.openxmlformats.org/officeDocument/2006/relationships/customXml" Target="../customXml/item2.xml"/><Relationship Id="rId13" Type="http://schemas.openxmlformats.org/officeDocument/2006/relationships/customXml" Target="../customXml/item3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F7DED-0943-2F4E-2671-2DB1303623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016A2D-1B0A-CE37-3608-35CF9ED3D2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91A168-A285-F311-DBD4-D212B001F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BA540-BA88-46CF-AF59-1B801C036B8B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93A97E-4798-305A-067E-9F6E54DD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88654-852F-6A51-FBFE-5531B106F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274F-6FC7-4813-A9A2-F717F7E47D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56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502D7-1ABB-43F4-7E9B-153A75482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04040-B668-7366-8C3D-3007DC2AA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5977E-F0F4-86F8-0B7F-C30A1A8F0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BA540-BA88-46CF-AF59-1B801C036B8B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091EE6-9841-9DC7-039C-5B84BBC28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F3540C-BB99-1C27-4443-5F36BDE07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274F-6FC7-4813-A9A2-F717F7E47D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479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AD60E-8FD2-E923-9695-61D67E76F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3F5F6D-350B-8206-B6C4-1B488FD6CB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7A1DA4-ECD9-1E67-4591-6E1834720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BA540-BA88-46CF-AF59-1B801C036B8B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94F473-228C-2DD1-1C69-092F21AC9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B7CE7C-3F6A-2F9C-885B-E6B964952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274F-6FC7-4813-A9A2-F717F7E47D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818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1B619-62D8-602E-A370-E4F43394E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4FD9A-8612-1037-ABE3-1FD22674E0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30D6EA-B271-B3B4-EC8C-188D2896A8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AB33EB-DA20-2D30-5F89-621889DEE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BA540-BA88-46CF-AF59-1B801C036B8B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0D028-07B1-DF58-22FA-224C3C182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F1817D-3F84-BB14-8316-9AC7F7204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274F-6FC7-4813-A9A2-F717F7E47D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873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DB631-572B-CCCE-016F-167F0F237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9AE52-D13D-5BF7-97B4-5F8AFFDE29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EFD8E6-9165-16E3-BDFC-4134D97C07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2D8AFD-B401-9365-F94F-E63963D1A2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9E8418-F2EC-3EFC-68AD-9496BB132C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939ED8-DCA9-4019-C3FA-9CD415CAA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BA540-BA88-46CF-AF59-1B801C036B8B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7D58CA-9565-5936-8752-57658AAC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0C4A19-E41C-7596-22B7-6FB55D272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274F-6FC7-4813-A9A2-F717F7E47D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89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FFD7A-784F-60A1-4509-F6BACE8BF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5A1ED5-8D43-E627-EC34-094ECA108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BA540-BA88-46CF-AF59-1B801C036B8B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0F0ECB-BEF1-66AD-D346-EEA53DFDB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08420F-226D-F5A9-9BE3-87FDDBEE5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274F-6FC7-4813-A9A2-F717F7E47D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9639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F031C0-5349-5F05-638E-28ED50B81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BA540-BA88-46CF-AF59-1B801C036B8B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A0BC3E-8E1E-7DDD-85D6-3A0479562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443A2-2E5A-5DBF-A74D-EECBBE529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274F-6FC7-4813-A9A2-F717F7E47D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314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AC975-06AA-A29E-2654-EFBF9E0BD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CC749-0F0C-CBB8-94FA-400E5BF48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8E208B-84E1-0BBE-991B-37E3CB34F5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BF5DA9-DD61-F5AB-FB9D-E2AD708A4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BA540-BA88-46CF-AF59-1B801C036B8B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9E9A9-2C4A-7084-FFCC-BC4E6FD19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9351B1-C645-BC7E-BE66-8AA08401E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274F-6FC7-4813-A9A2-F717F7E47D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799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E1AE7-6C0C-B427-3400-033C3DABA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2E86E8-A1F1-33C3-CA13-CAAD0AAFE1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4642E1-3BD1-A67B-422B-063C1E1D4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852560-3193-6F5E-465D-CDA693160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BA540-BA88-46CF-AF59-1B801C036B8B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61C943-7483-8BD7-A157-48273A4E5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6A95E-A947-F33F-3263-38D1C43D5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274F-6FC7-4813-A9A2-F717F7E47D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387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3FCEF-7184-0ECD-1682-3086DFD55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8FB38B-2414-5494-747A-AF056FA10C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658218-E951-50EC-94FB-CFA123106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BA540-BA88-46CF-AF59-1B801C036B8B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C85CF-74ED-81A1-8CF1-001D7733B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9F248-CFDF-2FA7-B618-3FE2C9EC6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274F-6FC7-4813-A9A2-F717F7E47D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17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4AD946-F509-E4F1-9F4D-DCEEC9CA7C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87480E-5E55-E4C0-D3D7-DAFDBF41D2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E4C7D-8058-7795-C6EF-046F187A1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BA540-BA88-46CF-AF59-1B801C036B8B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D29146-34B4-AB84-A61A-88864E7C5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ED08B-9865-A8F8-9CF5-F230CCBA5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274F-6FC7-4813-A9A2-F717F7E47D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0383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E3D113-D187-B07B-4C30-EE7AD219E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D3100F-CF65-F5AB-73D3-016D02393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28DA1F-2F54-66D8-6F34-C3A346CE35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BBA540-BA88-46CF-AF59-1B801C036B8B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5630D-0539-7CF9-1EBB-6DDA666F5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3A8AA-1B9C-6811-09C1-7DA01E7240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274F-6FC7-4813-A9A2-F717F7E47D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841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A9112-BE2C-E557-2EAD-5DFB8E4B24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2703" y="2463282"/>
            <a:ext cx="9144000" cy="1082352"/>
          </a:xfrm>
        </p:spPr>
        <p:txBody>
          <a:bodyPr/>
          <a:lstStyle/>
          <a:p>
            <a:pPr>
              <a:defRPr sz="2600" b="1">
                <a:solidFill>
                  <a:srgbClr val="BE0F14"/>
                </a:solidFill>
              </a:defRPr>
            </a:pPr>
            <a:r>
              <a:t>KIẾN TRÚC FLUTTER — CLEAN ARCHITECTURE</a:t>
            </a:r>
          </a:p>
          <a:p>
            <a:pPr>
              <a:defRPr sz="2600" b="1">
                <a:solidFill>
                  <a:srgbClr val="BE0F14"/>
                </a:solidFill>
              </a:defRPr>
            </a:pPr>
            <a:r>
              <a:t>VÀ DEPENDENCY INJECTION (DI)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46323E-9F1D-1C09-1C62-4C0F2F32C8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51714" y="4142790"/>
            <a:ext cx="5116286" cy="1338943"/>
          </a:xfrm>
        </p:spPr>
        <p:txBody>
          <a:bodyPr/>
          <a:lstStyle/>
          <a:p>
            <a:pPr>
              <a:defRPr sz="1500"/>
            </a:pPr>
            <a:r>
              <a:t>Người hướng dẫn: TS. Nguyễn Duy Nhật Viễn</a:t>
            </a:r>
          </a:p>
          <a:p>
            <a:pPr>
              <a:defRPr sz="1500"/>
            </a:pPr>
          </a:p>
          <a:p>
            <a:pPr>
              <a:defRPr sz="1500"/>
            </a:pPr>
            <a:r>
              <a:t>SVTH:</a:t>
            </a:r>
          </a:p>
          <a:p>
            <a:pPr>
              <a:defRPr sz="1500"/>
            </a:pPr>
            <a:r>
              <a:t>1. Thành viên 1 (Trưởng nhóm)</a:t>
            </a:r>
          </a:p>
          <a:p>
            <a:pPr>
              <a:defRPr sz="1500"/>
            </a:pPr>
            <a:r>
              <a:t>2. Thành viên 2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7BC51A4-5B59-8A33-71E9-028C13C8ACA9}"/>
              </a:ext>
            </a:extLst>
          </p:cNvPr>
          <p:cNvSpPr txBox="1">
            <a:spLocks/>
          </p:cNvSpPr>
          <p:nvPr/>
        </p:nvSpPr>
        <p:spPr>
          <a:xfrm>
            <a:off x="1524000" y="1376267"/>
            <a:ext cx="5116286" cy="447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dirty="0" err="1"/>
              <a:t>Báo</a:t>
            </a:r>
            <a:r>
              <a:rPr lang="en-US" dirty="0"/>
              <a:t> </a:t>
            </a:r>
            <a:r>
              <a:rPr lang="en-US" dirty="0" err="1"/>
              <a:t>cáo</a:t>
            </a:r>
            <a:r>
              <a:rPr lang="en-US" dirty="0"/>
              <a:t> </a:t>
            </a:r>
            <a:r>
              <a:rPr lang="en-US" dirty="0" err="1"/>
              <a:t>Tuần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4DE3DDE-A8CA-A162-D7B9-7CF8B2DD13B5}"/>
              </a:ext>
            </a:extLst>
          </p:cNvPr>
          <p:cNvSpPr txBox="1">
            <a:spLocks/>
          </p:cNvSpPr>
          <p:nvPr/>
        </p:nvSpPr>
        <p:spPr>
          <a:xfrm>
            <a:off x="2111828" y="1959427"/>
            <a:ext cx="5116286" cy="447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dirty="0" err="1"/>
              <a:t>Môn</a:t>
            </a:r>
            <a:r>
              <a:rPr lang="en-US" dirty="0"/>
              <a:t>: </a:t>
            </a:r>
            <a:r>
              <a:rPr lang="en-US" dirty="0" err="1"/>
              <a:t>Lập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Đa</a:t>
            </a:r>
            <a:r>
              <a:rPr lang="en-US" dirty="0"/>
              <a:t> </a:t>
            </a:r>
            <a:r>
              <a:rPr lang="en-US" dirty="0" err="1"/>
              <a:t>nền</a:t>
            </a:r>
            <a:r>
              <a:rPr lang="en-US" dirty="0"/>
              <a:t> </a:t>
            </a:r>
            <a:r>
              <a:rPr lang="en-US" dirty="0" err="1"/>
              <a:t>tảng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B66A4CF-53EE-DE34-3FAB-9024EB0BF4C4}"/>
              </a:ext>
            </a:extLst>
          </p:cNvPr>
          <p:cNvSpPr txBox="1">
            <a:spLocks/>
          </p:cNvSpPr>
          <p:nvPr/>
        </p:nvSpPr>
        <p:spPr>
          <a:xfrm>
            <a:off x="3825550" y="419880"/>
            <a:ext cx="5116286" cy="7184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/>
              <a:t>TRƯỜNG ĐẠI HỌC BÁCH KHOA</a:t>
            </a:r>
          </a:p>
          <a:p>
            <a:r>
              <a:rPr lang="en-US" sz="2000" b="1" dirty="0"/>
              <a:t>KHOA ĐIỆN TỬ VÀ TRÍ TUỆ NHÂN TẠO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F936180-4B93-7126-3B30-A55A320EE230}"/>
              </a:ext>
            </a:extLst>
          </p:cNvPr>
          <p:cNvSpPr txBox="1">
            <a:spLocks/>
          </p:cNvSpPr>
          <p:nvPr/>
        </p:nvSpPr>
        <p:spPr>
          <a:xfrm>
            <a:off x="3862871" y="6078889"/>
            <a:ext cx="5116286" cy="447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Đà</a:t>
            </a:r>
            <a:r>
              <a:rPr lang="en-US" dirty="0"/>
              <a:t> </a:t>
            </a:r>
            <a:r>
              <a:rPr lang="en-US" dirty="0" err="1"/>
              <a:t>Nẵng</a:t>
            </a:r>
            <a:r>
              <a:rPr lang="en-US" dirty="0"/>
              <a:t>, 2026</a:t>
            </a:r>
          </a:p>
        </p:txBody>
      </p:sp>
    </p:spTree>
    <p:extLst>
      <p:ext uri="{BB962C8B-B14F-4D97-AF65-F5344CB8AC3E}">
        <p14:creationId xmlns:p14="http://schemas.microsoft.com/office/powerpoint/2010/main" val="2808251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0CE17-3B25-2D54-F590-E273BDAB0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Nội</a:t>
            </a:r>
            <a:r>
              <a:rPr lang="en-US" dirty="0"/>
              <a:t> dung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D456-8E08-CBE9-82AD-26602FC13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1000"/>
              </a:spcAft>
              <a:defRPr sz="1800"/>
            </a:pPr>
            <a:r>
              <a:t>1. Đặt vấn đề &amp; Mục tiêu đề tài</a:t>
            </a:r>
          </a:p>
          <a:p>
            <a:pPr>
              <a:spcAft>
                <a:spcPts val="1000"/>
              </a:spcAft>
              <a:defRPr sz="1800"/>
            </a:pPr>
            <a:r>
              <a:t>2. Kiến trúc Clean Architecture 3 lớp (Presentation / Domain / Data)</a:t>
            </a:r>
          </a:p>
          <a:p>
            <a:pPr>
              <a:spcAft>
                <a:spcPts val="1000"/>
              </a:spcAft>
              <a:defRPr sz="1800"/>
            </a:pPr>
            <a:r>
              <a:t>3. Nguyên lý đảo ngược phụ thuộc (DIP) &amp; Repository Pattern</a:t>
            </a:r>
          </a:p>
          <a:p>
            <a:pPr>
              <a:spcAft>
                <a:spcPts val="1000"/>
              </a:spcAft>
              <a:defRPr sz="1800"/>
            </a:pPr>
            <a:r>
              <a:t>4. Dependency Injection với get_it &amp; injectable</a:t>
            </a:r>
          </a:p>
          <a:p>
            <a:pPr>
              <a:spcAft>
                <a:spcPts val="1000"/>
              </a:spcAft>
              <a:defRPr sz="1800"/>
            </a:pPr>
            <a:r>
              <a:t>5. Cơ chế khởi tạo: WidgetsBinding &amp; MultiBlocProvider</a:t>
            </a:r>
          </a:p>
          <a:p>
            <a:pPr>
              <a:spcAft>
                <a:spcPts val="1000"/>
              </a:spcAft>
              <a:defRPr sz="1800"/>
            </a:pPr>
            <a:r>
              <a:t>6. Ứng dụng Demo thực tế: CineStream Movie Explorer</a:t>
            </a:r>
          </a:p>
          <a:p>
            <a:pPr>
              <a:spcAft>
                <a:spcPts val="1000"/>
              </a:spcAft>
              <a:defRPr sz="1800"/>
            </a:pPr>
            <a:r>
              <a:t>7. Kiểm thử tự động (Unit Test) tầng Domain &amp; Decoupling Proof</a:t>
            </a:r>
          </a:p>
          <a:p>
            <a:pPr>
              <a:spcAft>
                <a:spcPts val="1000"/>
              </a:spcAft>
              <a:defRPr sz="1800"/>
            </a:pPr>
            <a:r>
              <a:t>8. Bảng phân công công việc (WBS) &amp; Kết luận</a:t>
            </a:r>
          </a:p>
        </p:txBody>
      </p:sp>
    </p:spTree>
    <p:extLst>
      <p:ext uri="{BB962C8B-B14F-4D97-AF65-F5344CB8AC3E}">
        <p14:creationId xmlns:p14="http://schemas.microsoft.com/office/powerpoint/2010/main" val="3734763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935-A182-3238-61CF-7B34B597E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EDCB72E-0085-C31A-2D8A-D4096AF718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660611"/>
              </p:ext>
            </p:extLst>
          </p:nvPr>
        </p:nvGraphicFramePr>
        <p:xfrm>
          <a:off x="838200" y="3253208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8004">
                  <a:extLst>
                    <a:ext uri="{9D8B030D-6E8A-4147-A177-3AD203B41FA5}">
                      <a16:colId xmlns:a16="http://schemas.microsoft.com/office/drawing/2014/main" val="2572418428"/>
                    </a:ext>
                  </a:extLst>
                </a:gridCol>
                <a:gridCol w="2239347">
                  <a:extLst>
                    <a:ext uri="{9D8B030D-6E8A-4147-A177-3AD203B41FA5}">
                      <a16:colId xmlns:a16="http://schemas.microsoft.com/office/drawing/2014/main" val="3198274142"/>
                    </a:ext>
                  </a:extLst>
                </a:gridCol>
                <a:gridCol w="4899349">
                  <a:extLst>
                    <a:ext uri="{9D8B030D-6E8A-4147-A177-3AD203B41FA5}">
                      <a16:colId xmlns:a16="http://schemas.microsoft.com/office/drawing/2014/main" val="8548336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719887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lang="en-US" dirty="0"/>
                        <a:t>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lang="en-US" dirty="0"/>
                        <a:t>HỌ VÀ TÊN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lang="en-US" dirty="0"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lang="en-US" dirty="0"/>
                        <a:t>TỶ LỆ ĐÓNG GÓP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666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Thành viên 1 (Trưởng nhóm)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Business Logic, State Management (BLoC), Dependency Injection, Domain Unit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95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Thành viên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UI Design, Data Layer (REST API &amp; DTOs), Báo cáo &amp; Slide thuyết trình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22517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rPr lang="en-US" dirty="0"/>
                        <a:t>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8817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9019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A9BBC-3E10-D0D5-139D-7420ACE02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Kiến trúc Clean Architecture 3 Lớp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07791-8943-D3F4-B75F-D1180A76B4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1200"/>
              </a:spcAft>
              <a:defRPr sz="1700"/>
            </a:pPr>
            <a:r>
              <a:t>• Presentation Layer: Chứa UI (Widgets, Pages) và State Management (BLoC/Cubit). Chỉ phụ thuộc vào Domain UseCase.</a:t>
            </a:r>
          </a:p>
          <a:p>
            <a:pPr>
              <a:spcAft>
                <a:spcPts val="1200"/>
              </a:spcAft>
              <a:defRPr sz="1700"/>
            </a:pPr>
            <a:r>
              <a:t>• Domain Layer (Core Business): Độc lập hoàn toàn (Pure Dart), chứa Entities, UseCases và Repository Interface.</a:t>
            </a:r>
          </a:p>
          <a:p>
            <a:pPr>
              <a:spcAft>
                <a:spcPts val="1200"/>
              </a:spcAft>
              <a:defRPr sz="1700"/>
            </a:pPr>
            <a:r>
              <a:t>• Data Layer: Phụ trách lấy dữ liệu từ REST API (Dio) hoặc Local Database. Triển khai (implement) Repository Interface của Domain.</a:t>
            </a:r>
          </a:p>
          <a:p>
            <a:pPr>
              <a:spcAft>
                <a:spcPts val="1200"/>
              </a:spcAft>
              <a:defRPr sz="1700"/>
            </a:pPr>
            <a:r>
              <a:t>• Quy tắc phụ thuộc (The Dependency Rule): Mọi phụ thuộc chỉ được phép chỉ vào trong (hướng về Domain).</a:t>
            </a:r>
          </a:p>
        </p:txBody>
      </p:sp>
    </p:spTree>
    <p:extLst>
      <p:ext uri="{BB962C8B-B14F-4D97-AF65-F5344CB8AC3E}">
        <p14:creationId xmlns:p14="http://schemas.microsoft.com/office/powerpoint/2010/main" val="1040925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DACE4-D3BC-D14F-6F10-4B5559D06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Tài liệu tham khảo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5EC67-D094-49BF-AA1D-C1437B7DA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1200"/>
              </a:spcAft>
              <a:defRPr sz="1700"/>
            </a:pPr>
            <a:r>
              <a:t>1. Robert C. Martin (2017) - Clean Architecture: A Craftsman Guide to Software Structure and Design.</a:t>
            </a:r>
          </a:p>
          <a:p>
            <a:pPr>
              <a:spcAft>
                <a:spcPts val="1200"/>
              </a:spcAft>
              <a:defRPr sz="1700"/>
            </a:pPr>
            <a:r>
              <a:t>2. Flutter Official Documentation: Architectural Overview &amp; State Management with BLoC.</a:t>
            </a:r>
          </a:p>
          <a:p>
            <a:pPr>
              <a:spcAft>
                <a:spcPts val="1200"/>
              </a:spcAft>
              <a:defRPr sz="1700"/>
            </a:pPr>
            <a:r>
              <a:t>3. Reso Coder: Flutter Clean Architecture &amp; TDD Course.</a:t>
            </a:r>
          </a:p>
          <a:p>
            <a:pPr>
              <a:spcAft>
                <a:spcPts val="1200"/>
              </a:spcAft>
              <a:defRPr sz="1700"/>
            </a:pPr>
            <a:r>
              <a:t>4. The Movie Database (TMDB) API v3 Developer Documentation.</a:t>
            </a:r>
          </a:p>
        </p:txBody>
      </p:sp>
    </p:spTree>
    <p:extLst>
      <p:ext uri="{BB962C8B-B14F-4D97-AF65-F5344CB8AC3E}">
        <p14:creationId xmlns:p14="http://schemas.microsoft.com/office/powerpoint/2010/main" val="1565712704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Nguyên lý Đảo ngược Phụ thuộc (DIP)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700"/>
            </a:pPr>
            <a:r>
              <a:t>• Định nghĩa DIP: Module cấp cao (Domain) không phụ thuộc trực tiếp vào module cấp thấp (Data). Cả hai đều phụ thuộc vào Abstraction.</a:t>
            </a:r>
          </a:p>
          <a:p>
            <a:pPr>
              <a:spcAft>
                <a:spcPts val="1200"/>
              </a:spcAft>
              <a:defRPr sz="1700"/>
            </a:pPr>
            <a:r>
              <a:t>• Repository Pattern: Domain định nghĩa interface MovieRepository. Data layer thực thi MovieRepositoryImpl.</a:t>
            </a:r>
          </a:p>
          <a:p>
            <a:pPr>
              <a:spcAft>
                <a:spcPts val="1200"/>
              </a:spcAft>
              <a:defRPr sz="1700"/>
            </a:pPr>
            <a:r>
              <a:t>• Lợi ích then chốt: Presentation &amp; Domain có thể kiểm thử hoàn toàn độc lập với API thật bằng cách Mock repository.</a:t>
            </a:r>
          </a:p>
          <a:p>
            <a:pPr>
              <a:spcAft>
                <a:spcPts val="1200"/>
              </a:spcAft>
              <a:defRPr sz="1700"/>
            </a:pPr>
            <a:r>
              <a:t>• Dễ dàng hoán đổi Data Source (REST API, GraphQL, SQLite, Firebase) mà không cần sửa bất kỳ dòng mã nào ở Domain/Presentation.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Dependency Injection (get_it + injectable)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700"/>
            </a:pPr>
            <a:r>
              <a:t>• get_it (Service Locator): Quản lý vòng đời và cung cấp instance của UseCase, Repository, BLoC ở mọi nơi trong ứng dụng.</a:t>
            </a:r>
          </a:p>
          <a:p>
            <a:pPr>
              <a:spcAft>
                <a:spcPts val="1200"/>
              </a:spcAft>
              <a:defRPr sz="1700"/>
            </a:pPr>
            <a:r>
              <a:t>• injectable + build_runner: Tự động quét các annotation (@lazySingleton, @injectable) và sinh mã khởi tạo compile-time.</a:t>
            </a:r>
          </a:p>
          <a:p>
            <a:pPr>
              <a:spcAft>
                <a:spcPts val="1200"/>
              </a:spcAft>
              <a:defRPr sz="1700"/>
            </a:pPr>
            <a:r>
              <a:t>• WidgetsFlutterBinding.ensureInitialized(): Đảm bảo kết nối giữa Flutter Engine và Dart Framework trước khi nạp .env và DI.</a:t>
            </a:r>
          </a:p>
          <a:p>
            <a:pPr>
              <a:spcAft>
                <a:spcPts val="1200"/>
              </a:spcAft>
              <a:defRPr sz="1700"/>
            </a:pPr>
            <a:r>
              <a:t>• MultiBlocProvider: Tích hợp BLoC vào Widget Tree theo vòng đời widget, tự động quản lý dispose() giải phóng bộ nhớ.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Demo Ứng Dụng CineStream &amp; Unit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200"/>
              </a:spcAft>
              <a:defRPr sz="1700"/>
            </a:pPr>
            <a:r>
              <a:t>• Ứng dụng CineStream Movie Explorer: Kết nối TMDB REST API, hiển thị phim thịnh hành, đang chiếu, chi tiết và tìm kiếm.</a:t>
            </a:r>
          </a:p>
          <a:p>
            <a:pPr>
              <a:spcAft>
                <a:spcPts val="1200"/>
              </a:spcAft>
              <a:defRPr sz="1700"/>
            </a:pPr>
            <a:r>
              <a:t>• Màn hình trực quan hóa kiến trúc Clean Architecture tích hợp ngay bên trong ứng dụng.</a:t>
            </a:r>
          </a:p>
          <a:p>
            <a:pPr>
              <a:spcAft>
                <a:spcPts val="1200"/>
              </a:spcAft>
              <a:defRPr sz="1700"/>
            </a:pPr>
            <a:r>
              <a:t>• Cơ chế Smart Fallback: Đảm bảo ứng dụng chạy mượt mà ngay cả khi chưa có API Key hoặc mất kết nối mạng trong lúc thuyết trình.</a:t>
            </a:r>
          </a:p>
          <a:p>
            <a:pPr>
              <a:spcAft>
                <a:spcPts val="1200"/>
              </a:spcAft>
              <a:defRPr sz="1700"/>
            </a:pPr>
            <a:r>
              <a:t>• Kết quả Unit Test: 11/11 tests Passed 100% (Mocktail + BlocTest chứng minh tầng Presentation không phụ thuộc vào Data Source).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A6619A3B1639D42874994F77AC02483" ma:contentTypeVersion="3" ma:contentTypeDescription="Create a new document." ma:contentTypeScope="" ma:versionID="6b18b97d0b98c2adce2042d1e2a65f22">
  <xsd:schema xmlns:xsd="http://www.w3.org/2001/XMLSchema" xmlns:xs="http://www.w3.org/2001/XMLSchema" xmlns:p="http://schemas.microsoft.com/office/2006/metadata/properties" xmlns:ns2="5f53e27d-cf80-4459-b77c-5da6482d08cf" targetNamespace="http://schemas.microsoft.com/office/2006/metadata/properties" ma:root="true" ma:fieldsID="1c98cf1e04493246c2b7533a6df78558" ns2:_="">
    <xsd:import namespace="5f53e27d-cf80-4459-b77c-5da6482d08c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53e27d-cf80-4459-b77c-5da6482d08c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2B9F2D99-4C43-47E9-835C-04D374F58974}"/>
</file>

<file path=customXml/itemProps2.xml><?xml version="1.0" encoding="utf-8"?>
<ds:datastoreItem xmlns:ds="http://schemas.openxmlformats.org/officeDocument/2006/customXml" ds:itemID="{2A720BA3-AE46-43E0-AB61-BA51741E693B}"/>
</file>

<file path=customXml/itemProps3.xml><?xml version="1.0" encoding="utf-8"?>
<ds:datastoreItem xmlns:ds="http://schemas.openxmlformats.org/officeDocument/2006/customXml" ds:itemID="{E37686D3-F703-46FD-8AC3-D5B24B7B1ABD}"/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</Words>
  <Application>Microsoft Office PowerPoint</Application>
  <PresentationFormat>Widescreen</PresentationFormat>
  <Paragraphs>24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&lt;&lt;Tên chủ đề&gt;&gt;</vt:lpstr>
      <vt:lpstr>Nội dung</vt:lpstr>
      <vt:lpstr>Phân công công việc</vt:lpstr>
      <vt:lpstr>Nội dung 1 xxx</vt:lpstr>
      <vt:lpstr>Tài liệu tham khảo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&lt;&lt;Tên chủ đề&gt;&gt;</dc:title>
  <dc:creator>ndnvien@dut.udn.vn</dc:creator>
  <cp:lastModifiedBy>Nguyễn Duy Nhật Viễn</cp:lastModifiedBy>
  <cp:revision>2</cp:revision>
  <dcterms:created xsi:type="dcterms:W3CDTF">2023-10-18T00:10:58Z</dcterms:created>
  <dcterms:modified xsi:type="dcterms:W3CDTF">2026-10-13T06:44:04Z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0x010100DA6619A3B1639D42874994F77AC02483</vt:lpwstr>
  </property>
</Properties>
</file>